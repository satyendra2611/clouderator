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739455"/>
            <a:ext cx="11049000" cy="2156370"/>
          </a:xfrm>
          <a:prstGeom prst="rect">
            <a:avLst/>
          </a:prstGeom>
        </p:spPr>
      </p:pic>
      <p:pic>
        <p:nvPicPr>
          <p:cNvPr id="4" name="Picture 3" descr="image.png"/>
          <p:cNvPicPr>
            <a:picLocks noChangeAspect="1"/>
          </p:cNvPicPr>
          <p:nvPr/>
        </p:nvPicPr>
        <p:blipFill>
          <a:blip r:embed="rId4"/>
          <a:stretch>
            <a:fillRect/>
          </a:stretch>
        </p:blipFill>
        <p:spPr>
          <a:xfrm>
            <a:off x="571500" y="6086326"/>
            <a:ext cx="11049000" cy="1097160"/>
          </a:xfrm>
          <a:prstGeom prst="rect">
            <a:avLst/>
          </a:prstGeom>
        </p:spPr>
      </p:pic>
      <p:pic>
        <p:nvPicPr>
          <p:cNvPr id="5" name="Picture 4" descr="image.png"/>
          <p:cNvPicPr>
            <a:picLocks noChangeAspect="1"/>
          </p:cNvPicPr>
          <p:nvPr/>
        </p:nvPicPr>
        <p:blipFill>
          <a:blip r:embed="rId5"/>
          <a:stretch>
            <a:fillRect/>
          </a:stretch>
        </p:blipFill>
        <p:spPr>
          <a:xfrm>
            <a:off x="4953000" y="2405955"/>
            <a:ext cx="952500" cy="952500"/>
          </a:xfrm>
          <a:prstGeom prst="rect">
            <a:avLst/>
          </a:prstGeom>
        </p:spPr>
      </p:pic>
      <p:pic>
        <p:nvPicPr>
          <p:cNvPr id="6" name="Picture 5" descr="image.png"/>
          <p:cNvPicPr>
            <a:picLocks noChangeAspect="1"/>
          </p:cNvPicPr>
          <p:nvPr/>
        </p:nvPicPr>
        <p:blipFill>
          <a:blip r:embed="rId6"/>
          <a:stretch>
            <a:fillRect/>
          </a:stretch>
        </p:blipFill>
        <p:spPr>
          <a:xfrm>
            <a:off x="6286500" y="2405955"/>
            <a:ext cx="952500" cy="952500"/>
          </a:xfrm>
          <a:prstGeom prst="rect">
            <a:avLst/>
          </a:prstGeom>
        </p:spPr>
      </p:pic>
      <p:sp>
        <p:nvSpPr>
          <p:cNvPr id="7" name="TextBox 6"/>
          <p:cNvSpPr txBox="1"/>
          <p:nvPr/>
        </p:nvSpPr>
        <p:spPr>
          <a:xfrm>
            <a:off x="571500" y="571500"/>
            <a:ext cx="11049000" cy="190500"/>
          </a:xfrm>
          <a:prstGeom prst="rect">
            <a:avLst/>
          </a:prstGeom>
          <a:noFill/>
        </p:spPr>
        <p:txBody>
          <a:bodyPr wrap="square" lIns="0" rIns="0" tIns="0" bIns="0" anchor="t">
            <a:spAutoFit/>
          </a:bodyPr>
          <a:lstStyle/>
          <a:p>
            <a:pPr algn="r"/>
            <a:r>
              <a:rPr b="0" sz="1200" i="0" u="none">
                <a:solidFill>
                  <a:srgbClr val="C9D1D9"/>
                </a:solidFill>
                <a:latin typeface="Outfit"/>
              </a:rPr>
              <a:t>Mini Project Id: </a:t>
            </a:r>
            <a:r>
              <a:rPr b="1" sz="1200" i="0" u="none">
                <a:solidFill>
                  <a:srgbClr val="58A6FF"/>
                </a:solidFill>
                <a:latin typeface="Outfit"/>
              </a:rPr>
              <a:t>[Insert ID]</a:t>
            </a:r>
          </a:p>
        </p:txBody>
      </p:sp>
      <p:sp>
        <p:nvSpPr>
          <p:cNvPr id="8" name="TextBox 7"/>
          <p:cNvSpPr txBox="1"/>
          <p:nvPr/>
        </p:nvSpPr>
        <p:spPr>
          <a:xfrm>
            <a:off x="295275" y="762000"/>
            <a:ext cx="11601450" cy="962025"/>
          </a:xfrm>
          <a:prstGeom prst="rect">
            <a:avLst/>
          </a:prstGeom>
          <a:noFill/>
        </p:spPr>
        <p:txBody>
          <a:bodyPr wrap="square" lIns="0" rIns="0" tIns="0" bIns="0" anchor="t">
            <a:spAutoFit/>
          </a:bodyPr>
          <a:lstStyle/>
          <a:p>
            <a:pPr algn="ctr"/>
            <a:r>
              <a:rPr b="0" sz="6000" i="0" u="none">
                <a:solidFill>
                  <a:srgbClr val="FFFFFF"/>
                </a:solidFill>
                <a:latin typeface="Outfit ExtraBold"/>
              </a:rPr>
              <a:t>Clouderator</a:t>
            </a:r>
          </a:p>
        </p:txBody>
      </p:sp>
      <p:sp>
        <p:nvSpPr>
          <p:cNvPr id="9" name="TextBox 8"/>
          <p:cNvSpPr txBox="1"/>
          <p:nvPr/>
        </p:nvSpPr>
        <p:spPr>
          <a:xfrm>
            <a:off x="571500" y="1819275"/>
            <a:ext cx="11049000" cy="396180"/>
          </a:xfrm>
          <a:prstGeom prst="rect">
            <a:avLst/>
          </a:prstGeom>
          <a:noFill/>
        </p:spPr>
        <p:txBody>
          <a:bodyPr wrap="square" lIns="0" rIns="0" tIns="0" bIns="0" anchor="t">
            <a:spAutoFit/>
          </a:bodyPr>
          <a:lstStyle/>
          <a:p>
            <a:pPr algn="ctr">
              <a:lnSpc>
                <a:spcPts val="3120"/>
              </a:lnSpc>
            </a:pPr>
            <a:r>
              <a:rPr b="0" sz="1950" i="0" u="none">
                <a:solidFill>
                  <a:srgbClr val="3FB950"/>
                </a:solidFill>
                <a:latin typeface="Outfit Medium"/>
              </a:rPr>
              <a:t>AI-Powered Cloud Infrastructure Operating System</a:t>
            </a:r>
          </a:p>
        </p:txBody>
      </p:sp>
      <p:sp>
        <p:nvSpPr>
          <p:cNvPr id="10" name="TextBox 9"/>
          <p:cNvSpPr txBox="1"/>
          <p:nvPr/>
        </p:nvSpPr>
        <p:spPr>
          <a:xfrm>
            <a:off x="295275" y="6286351"/>
            <a:ext cx="11601450" cy="285750"/>
          </a:xfrm>
          <a:prstGeom prst="rect">
            <a:avLst/>
          </a:prstGeom>
          <a:noFill/>
        </p:spPr>
        <p:txBody>
          <a:bodyPr wrap="square" lIns="0" rIns="0" tIns="0" bIns="0" anchor="t">
            <a:spAutoFit/>
          </a:bodyPr>
          <a:lstStyle/>
          <a:p>
            <a:pPr algn="ctr"/>
            <a:r>
              <a:rPr b="1" sz="1800" i="0" u="none">
                <a:solidFill>
                  <a:srgbClr val="FFFFFF"/>
                </a:solidFill>
                <a:latin typeface="Outfit"/>
              </a:rPr>
              <a:t>ABES Institute of Technology, Ghaziabad</a:t>
            </a:r>
          </a:p>
        </p:txBody>
      </p:sp>
      <p:sp>
        <p:nvSpPr>
          <p:cNvPr id="11" name="TextBox 10"/>
          <p:cNvSpPr txBox="1"/>
          <p:nvPr/>
        </p:nvSpPr>
        <p:spPr>
          <a:xfrm>
            <a:off x="571500" y="6648301"/>
            <a:ext cx="11049000" cy="209698"/>
          </a:xfrm>
          <a:prstGeom prst="rect">
            <a:avLst/>
          </a:prstGeom>
          <a:noFill/>
        </p:spPr>
        <p:txBody>
          <a:bodyPr wrap="square" lIns="0" rIns="0" tIns="0" bIns="0" anchor="t">
            <a:spAutoFit/>
          </a:bodyPr>
          <a:lstStyle/>
          <a:p>
            <a:pPr algn="ctr">
              <a:lnSpc>
                <a:spcPts val="1920"/>
              </a:lnSpc>
            </a:pPr>
            <a:r>
              <a:rPr b="0" sz="1200" i="0" u="none">
                <a:solidFill>
                  <a:srgbClr val="C9D1D9"/>
                </a:solidFill>
                <a:latin typeface="Inter"/>
              </a:rPr>
              <a:t>Affiliated to: DR. A.P.J. Abdul Kalam Technical University | Session 2026-27</a:t>
            </a:r>
          </a:p>
        </p:txBody>
      </p:sp>
      <p:sp>
        <p:nvSpPr>
          <p:cNvPr id="12" name="TextBox 11"/>
          <p:cNvSpPr txBox="1"/>
          <p:nvPr/>
        </p:nvSpPr>
        <p:spPr>
          <a:xfrm>
            <a:off x="571500" y="6939706"/>
            <a:ext cx="11049000" cy="0"/>
          </a:xfrm>
          <a:prstGeom prst="rect">
            <a:avLst/>
          </a:prstGeom>
          <a:noFill/>
        </p:spPr>
        <p:txBody>
          <a:bodyPr wrap="square" lIns="0" rIns="0" tIns="0" bIns="0" anchor="t">
            <a:spAutoFit/>
          </a:bodyPr>
          <a:lstStyle/>
          <a:p>
            <a:pPr algn="ctr">
              <a:lnSpc>
                <a:spcPts val="1920"/>
              </a:lnSpc>
            </a:pPr>
            <a:r>
              <a:rPr b="0" sz="1200" i="0" u="none">
                <a:solidFill>
                  <a:srgbClr val="58A6FF"/>
                </a:solidFill>
                <a:latin typeface="Inter SemiBold"/>
              </a:rPr>
              <a:t>Department of Computer Science &amp; Engineering</a:t>
            </a:r>
          </a:p>
        </p:txBody>
      </p:sp>
      <p:sp>
        <p:nvSpPr>
          <p:cNvPr id="13" name="TextBox 12"/>
          <p:cNvSpPr txBox="1"/>
          <p:nvPr/>
        </p:nvSpPr>
        <p:spPr>
          <a:xfrm>
            <a:off x="2266950" y="4034730"/>
            <a:ext cx="3250406" cy="266700"/>
          </a:xfrm>
          <a:prstGeom prst="rect">
            <a:avLst/>
          </a:prstGeom>
          <a:noFill/>
        </p:spPr>
        <p:txBody>
          <a:bodyPr wrap="square" lIns="0" rIns="0" tIns="0" bIns="0" anchor="t">
            <a:spAutoFit/>
          </a:bodyPr>
          <a:lstStyle/>
          <a:p>
            <a:pPr algn="l"/>
            <a:r>
              <a:rPr b="0" sz="1650" i="0" u="none">
                <a:solidFill>
                  <a:srgbClr val="BC8CFF"/>
                </a:solidFill>
                <a:latin typeface="Outfit SemiBold"/>
              </a:rPr>
              <a:t>PRESENTED BY:</a:t>
            </a:r>
          </a:p>
        </p:txBody>
      </p:sp>
      <p:sp>
        <p:nvSpPr>
          <p:cNvPr id="14" name="TextBox 13"/>
          <p:cNvSpPr txBox="1"/>
          <p:nvPr/>
        </p:nvSpPr>
        <p:spPr>
          <a:xfrm>
            <a:off x="2266950" y="4491930"/>
            <a:ext cx="3095625" cy="27429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1. [Student 1 Name] - Roll No: [Roll 1]</a:t>
            </a:r>
          </a:p>
        </p:txBody>
      </p:sp>
      <p:sp>
        <p:nvSpPr>
          <p:cNvPr id="15" name="TextBox 14"/>
          <p:cNvSpPr txBox="1"/>
          <p:nvPr/>
        </p:nvSpPr>
        <p:spPr>
          <a:xfrm>
            <a:off x="2266950" y="4861470"/>
            <a:ext cx="3095625" cy="27429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2. [Student 2 Name] - Roll No: [Roll 2]</a:t>
            </a:r>
          </a:p>
        </p:txBody>
      </p:sp>
      <p:sp>
        <p:nvSpPr>
          <p:cNvPr id="16" name="TextBox 15"/>
          <p:cNvSpPr txBox="1"/>
          <p:nvPr/>
        </p:nvSpPr>
        <p:spPr>
          <a:xfrm>
            <a:off x="2266950" y="5231010"/>
            <a:ext cx="3095625" cy="27429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3. [Student 3 Name] - Roll No: [Roll 3]</a:t>
            </a:r>
          </a:p>
        </p:txBody>
      </p:sp>
      <p:sp>
        <p:nvSpPr>
          <p:cNvPr id="17" name="TextBox 16"/>
          <p:cNvSpPr txBox="1"/>
          <p:nvPr/>
        </p:nvSpPr>
        <p:spPr>
          <a:xfrm>
            <a:off x="8162925" y="4034730"/>
            <a:ext cx="1850231" cy="266700"/>
          </a:xfrm>
          <a:prstGeom prst="rect">
            <a:avLst/>
          </a:prstGeom>
          <a:noFill/>
        </p:spPr>
        <p:txBody>
          <a:bodyPr wrap="square" lIns="0" rIns="0" tIns="0" bIns="0" anchor="t">
            <a:spAutoFit/>
          </a:bodyPr>
          <a:lstStyle/>
          <a:p>
            <a:pPr algn="l"/>
            <a:r>
              <a:rPr b="0" sz="1650" i="0" u="none">
                <a:solidFill>
                  <a:srgbClr val="BC8CFF"/>
                </a:solidFill>
                <a:latin typeface="Outfit SemiBold"/>
              </a:rPr>
              <a:t>SUPERVISED BY:</a:t>
            </a:r>
          </a:p>
        </p:txBody>
      </p:sp>
      <p:sp>
        <p:nvSpPr>
          <p:cNvPr id="18" name="TextBox 17"/>
          <p:cNvSpPr txBox="1"/>
          <p:nvPr/>
        </p:nvSpPr>
        <p:spPr>
          <a:xfrm>
            <a:off x="8162925" y="4491930"/>
            <a:ext cx="1762125" cy="27429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[Supervisor Name]</a:t>
            </a:r>
          </a:p>
        </p:txBody>
      </p:sp>
      <p:sp>
        <p:nvSpPr>
          <p:cNvPr id="19" name="TextBox 18"/>
          <p:cNvSpPr txBox="1"/>
          <p:nvPr/>
        </p:nvSpPr>
        <p:spPr>
          <a:xfrm>
            <a:off x="8162925" y="4861470"/>
            <a:ext cx="1762125" cy="27429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[Designation]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123950" y="1614487"/>
            <a:ext cx="4733925" cy="971550"/>
          </a:xfrm>
          <a:prstGeom prst="rect">
            <a:avLst/>
          </a:prstGeom>
        </p:spPr>
      </p:pic>
      <p:pic>
        <p:nvPicPr>
          <p:cNvPr id="4" name="Picture 3" descr="image.png"/>
          <p:cNvPicPr>
            <a:picLocks noChangeAspect="1"/>
          </p:cNvPicPr>
          <p:nvPr/>
        </p:nvPicPr>
        <p:blipFill>
          <a:blip r:embed="rId4"/>
          <a:stretch>
            <a:fillRect/>
          </a:stretch>
        </p:blipFill>
        <p:spPr>
          <a:xfrm>
            <a:off x="6334125" y="1614487"/>
            <a:ext cx="4733925" cy="971550"/>
          </a:xfrm>
          <a:prstGeom prst="rect">
            <a:avLst/>
          </a:prstGeom>
        </p:spPr>
      </p:pic>
      <p:pic>
        <p:nvPicPr>
          <p:cNvPr id="5" name="Picture 4" descr="image.png"/>
          <p:cNvPicPr>
            <a:picLocks noChangeAspect="1"/>
          </p:cNvPicPr>
          <p:nvPr/>
        </p:nvPicPr>
        <p:blipFill>
          <a:blip r:embed="rId5"/>
          <a:stretch>
            <a:fillRect/>
          </a:stretch>
        </p:blipFill>
        <p:spPr>
          <a:xfrm>
            <a:off x="1123950" y="2871787"/>
            <a:ext cx="4733925" cy="971550"/>
          </a:xfrm>
          <a:prstGeom prst="rect">
            <a:avLst/>
          </a:prstGeom>
        </p:spPr>
      </p:pic>
      <p:pic>
        <p:nvPicPr>
          <p:cNvPr id="6" name="Picture 5" descr="image.png"/>
          <p:cNvPicPr>
            <a:picLocks noChangeAspect="1"/>
          </p:cNvPicPr>
          <p:nvPr/>
        </p:nvPicPr>
        <p:blipFill>
          <a:blip r:embed="rId5"/>
          <a:stretch>
            <a:fillRect/>
          </a:stretch>
        </p:blipFill>
        <p:spPr>
          <a:xfrm>
            <a:off x="6334125" y="2871787"/>
            <a:ext cx="4733925" cy="971550"/>
          </a:xfrm>
          <a:prstGeom prst="rect">
            <a:avLst/>
          </a:prstGeom>
        </p:spPr>
      </p:pic>
      <p:pic>
        <p:nvPicPr>
          <p:cNvPr id="7" name="Picture 6" descr="image.png"/>
          <p:cNvPicPr>
            <a:picLocks noChangeAspect="1"/>
          </p:cNvPicPr>
          <p:nvPr/>
        </p:nvPicPr>
        <p:blipFill>
          <a:blip r:embed="rId6"/>
          <a:stretch>
            <a:fillRect/>
          </a:stretch>
        </p:blipFill>
        <p:spPr>
          <a:xfrm>
            <a:off x="1123950" y="4129087"/>
            <a:ext cx="4733925" cy="971550"/>
          </a:xfrm>
          <a:prstGeom prst="rect">
            <a:avLst/>
          </a:prstGeom>
        </p:spPr>
      </p:pic>
      <p:pic>
        <p:nvPicPr>
          <p:cNvPr id="8" name="Picture 7" descr="image.png"/>
          <p:cNvPicPr>
            <a:picLocks noChangeAspect="1"/>
          </p:cNvPicPr>
          <p:nvPr/>
        </p:nvPicPr>
        <p:blipFill>
          <a:blip r:embed="rId7"/>
          <a:stretch>
            <a:fillRect/>
          </a:stretch>
        </p:blipFill>
        <p:spPr>
          <a:xfrm>
            <a:off x="6334125" y="4129087"/>
            <a:ext cx="4733925" cy="971550"/>
          </a:xfrm>
          <a:prstGeom prst="rect">
            <a:avLst/>
          </a:prstGeom>
        </p:spPr>
      </p:pic>
      <p:pic>
        <p:nvPicPr>
          <p:cNvPr id="9" name="Picture 8" descr="image.png"/>
          <p:cNvPicPr>
            <a:picLocks noChangeAspect="1"/>
          </p:cNvPicPr>
          <p:nvPr/>
        </p:nvPicPr>
        <p:blipFill>
          <a:blip r:embed="rId8"/>
          <a:stretch>
            <a:fillRect/>
          </a:stretch>
        </p:blipFill>
        <p:spPr>
          <a:xfrm>
            <a:off x="1123950" y="5386387"/>
            <a:ext cx="4733925" cy="971550"/>
          </a:xfrm>
          <a:prstGeom prst="rect">
            <a:avLst/>
          </a:prstGeom>
        </p:spPr>
      </p:pic>
      <p:sp>
        <p:nvSpPr>
          <p:cNvPr id="10" name="TextBox 9"/>
          <p:cNvSpPr txBox="1"/>
          <p:nvPr/>
        </p:nvSpPr>
        <p:spPr>
          <a:xfrm>
            <a:off x="1419225" y="1862137"/>
            <a:ext cx="409575" cy="476250"/>
          </a:xfrm>
          <a:prstGeom prst="rect">
            <a:avLst/>
          </a:prstGeom>
          <a:noFill/>
        </p:spPr>
        <p:txBody>
          <a:bodyPr wrap="square" lIns="0" rIns="0" tIns="0" bIns="0" anchor="t">
            <a:spAutoFit/>
          </a:bodyPr>
          <a:lstStyle/>
          <a:p>
            <a:pPr algn="l"/>
            <a:r>
              <a:rPr b="0" sz="3000" i="0" u="none">
                <a:solidFill>
                  <a:srgbClr val="58A6FF"/>
                </a:solidFill>
                <a:latin typeface="Outfit ExtraBold"/>
              </a:rPr>
              <a:t>01</a:t>
            </a:r>
          </a:p>
        </p:txBody>
      </p:sp>
      <p:sp>
        <p:nvSpPr>
          <p:cNvPr id="11" name="TextBox 10"/>
          <p:cNvSpPr txBox="1"/>
          <p:nvPr/>
        </p:nvSpPr>
        <p:spPr>
          <a:xfrm>
            <a:off x="2066925" y="1957387"/>
            <a:ext cx="1247775" cy="285750"/>
          </a:xfrm>
          <a:prstGeom prst="rect">
            <a:avLst/>
          </a:prstGeom>
          <a:noFill/>
        </p:spPr>
        <p:txBody>
          <a:bodyPr wrap="square" lIns="0" rIns="0" tIns="0" bIns="0" anchor="t">
            <a:spAutoFit/>
          </a:bodyPr>
          <a:lstStyle/>
          <a:p>
            <a:pPr algn="l"/>
            <a:r>
              <a:rPr b="0" sz="1800" i="0" u="none">
                <a:solidFill>
                  <a:srgbClr val="FFFFFF"/>
                </a:solidFill>
                <a:latin typeface="Outfit Medium"/>
              </a:rPr>
              <a:t>Introduction</a:t>
            </a:r>
          </a:p>
        </p:txBody>
      </p:sp>
      <p:sp>
        <p:nvSpPr>
          <p:cNvPr id="12" name="TextBox 11"/>
          <p:cNvSpPr txBox="1"/>
          <p:nvPr/>
        </p:nvSpPr>
        <p:spPr>
          <a:xfrm>
            <a:off x="6629400" y="1862137"/>
            <a:ext cx="476250" cy="476250"/>
          </a:xfrm>
          <a:prstGeom prst="rect">
            <a:avLst/>
          </a:prstGeom>
          <a:noFill/>
        </p:spPr>
        <p:txBody>
          <a:bodyPr wrap="square" lIns="0" rIns="0" tIns="0" bIns="0" anchor="t">
            <a:spAutoFit/>
          </a:bodyPr>
          <a:lstStyle/>
          <a:p>
            <a:pPr algn="l"/>
            <a:r>
              <a:rPr b="0" sz="3000" i="0" u="none">
                <a:solidFill>
                  <a:srgbClr val="58A6FF"/>
                </a:solidFill>
                <a:latin typeface="Outfit ExtraBold"/>
              </a:rPr>
              <a:t>02</a:t>
            </a:r>
          </a:p>
        </p:txBody>
      </p:sp>
      <p:sp>
        <p:nvSpPr>
          <p:cNvPr id="13" name="TextBox 12"/>
          <p:cNvSpPr txBox="1"/>
          <p:nvPr/>
        </p:nvSpPr>
        <p:spPr>
          <a:xfrm>
            <a:off x="7343775" y="1957387"/>
            <a:ext cx="990600" cy="285750"/>
          </a:xfrm>
          <a:prstGeom prst="rect">
            <a:avLst/>
          </a:prstGeom>
          <a:noFill/>
        </p:spPr>
        <p:txBody>
          <a:bodyPr wrap="square" lIns="0" rIns="0" tIns="0" bIns="0" anchor="t">
            <a:spAutoFit/>
          </a:bodyPr>
          <a:lstStyle/>
          <a:p>
            <a:pPr algn="l"/>
            <a:r>
              <a:rPr b="0" sz="1800" i="0" u="none">
                <a:solidFill>
                  <a:srgbClr val="FFFFFF"/>
                </a:solidFill>
                <a:latin typeface="Outfit Medium"/>
              </a:rPr>
              <a:t>Objective</a:t>
            </a:r>
          </a:p>
        </p:txBody>
      </p:sp>
      <p:sp>
        <p:nvSpPr>
          <p:cNvPr id="14" name="TextBox 13"/>
          <p:cNvSpPr txBox="1"/>
          <p:nvPr/>
        </p:nvSpPr>
        <p:spPr>
          <a:xfrm>
            <a:off x="1419225" y="3119437"/>
            <a:ext cx="476250" cy="476250"/>
          </a:xfrm>
          <a:prstGeom prst="rect">
            <a:avLst/>
          </a:prstGeom>
          <a:noFill/>
        </p:spPr>
        <p:txBody>
          <a:bodyPr wrap="square" lIns="0" rIns="0" tIns="0" bIns="0" anchor="t">
            <a:spAutoFit/>
          </a:bodyPr>
          <a:lstStyle/>
          <a:p>
            <a:pPr algn="l"/>
            <a:r>
              <a:rPr b="0" sz="3000" i="0" u="none">
                <a:solidFill>
                  <a:srgbClr val="58A6FF"/>
                </a:solidFill>
                <a:latin typeface="Outfit ExtraBold"/>
              </a:rPr>
              <a:t>03</a:t>
            </a:r>
          </a:p>
        </p:txBody>
      </p:sp>
      <p:sp>
        <p:nvSpPr>
          <p:cNvPr id="15" name="TextBox 14"/>
          <p:cNvSpPr txBox="1"/>
          <p:nvPr/>
        </p:nvSpPr>
        <p:spPr>
          <a:xfrm>
            <a:off x="2133600" y="3214687"/>
            <a:ext cx="1743075" cy="285750"/>
          </a:xfrm>
          <a:prstGeom prst="rect">
            <a:avLst/>
          </a:prstGeom>
          <a:noFill/>
        </p:spPr>
        <p:txBody>
          <a:bodyPr wrap="square" lIns="0" rIns="0" tIns="0" bIns="0" anchor="t">
            <a:spAutoFit/>
          </a:bodyPr>
          <a:lstStyle/>
          <a:p>
            <a:pPr algn="l"/>
            <a:r>
              <a:rPr b="0" sz="1800" i="0" u="none">
                <a:solidFill>
                  <a:srgbClr val="FFFFFF"/>
                </a:solidFill>
                <a:latin typeface="Outfit Medium"/>
              </a:rPr>
              <a:t>Literature Survey</a:t>
            </a:r>
          </a:p>
        </p:txBody>
      </p:sp>
      <p:sp>
        <p:nvSpPr>
          <p:cNvPr id="16" name="TextBox 15"/>
          <p:cNvSpPr txBox="1"/>
          <p:nvPr/>
        </p:nvSpPr>
        <p:spPr>
          <a:xfrm>
            <a:off x="6629400" y="3119437"/>
            <a:ext cx="495300" cy="476250"/>
          </a:xfrm>
          <a:prstGeom prst="rect">
            <a:avLst/>
          </a:prstGeom>
          <a:noFill/>
        </p:spPr>
        <p:txBody>
          <a:bodyPr wrap="square" lIns="0" rIns="0" tIns="0" bIns="0" anchor="t">
            <a:spAutoFit/>
          </a:bodyPr>
          <a:lstStyle/>
          <a:p>
            <a:pPr algn="l"/>
            <a:r>
              <a:rPr b="0" sz="3000" i="0" u="none">
                <a:solidFill>
                  <a:srgbClr val="58A6FF"/>
                </a:solidFill>
                <a:latin typeface="Outfit ExtraBold"/>
              </a:rPr>
              <a:t>04</a:t>
            </a:r>
          </a:p>
        </p:txBody>
      </p:sp>
      <p:sp>
        <p:nvSpPr>
          <p:cNvPr id="17" name="TextBox 16"/>
          <p:cNvSpPr txBox="1"/>
          <p:nvPr/>
        </p:nvSpPr>
        <p:spPr>
          <a:xfrm>
            <a:off x="7362825" y="3214687"/>
            <a:ext cx="2009775" cy="285750"/>
          </a:xfrm>
          <a:prstGeom prst="rect">
            <a:avLst/>
          </a:prstGeom>
          <a:noFill/>
        </p:spPr>
        <p:txBody>
          <a:bodyPr wrap="square" lIns="0" rIns="0" tIns="0" bIns="0" anchor="t">
            <a:spAutoFit/>
          </a:bodyPr>
          <a:lstStyle/>
          <a:p>
            <a:pPr algn="l"/>
            <a:r>
              <a:rPr b="0" sz="1800" i="0" u="none">
                <a:solidFill>
                  <a:srgbClr val="FFFFFF"/>
                </a:solidFill>
                <a:latin typeface="Outfit Medium"/>
              </a:rPr>
              <a:t>Problem Statement</a:t>
            </a:r>
          </a:p>
        </p:txBody>
      </p:sp>
      <p:sp>
        <p:nvSpPr>
          <p:cNvPr id="18" name="TextBox 17"/>
          <p:cNvSpPr txBox="1"/>
          <p:nvPr/>
        </p:nvSpPr>
        <p:spPr>
          <a:xfrm>
            <a:off x="1419225" y="4376737"/>
            <a:ext cx="476250" cy="476250"/>
          </a:xfrm>
          <a:prstGeom prst="rect">
            <a:avLst/>
          </a:prstGeom>
          <a:noFill/>
        </p:spPr>
        <p:txBody>
          <a:bodyPr wrap="square" lIns="0" rIns="0" tIns="0" bIns="0" anchor="t">
            <a:spAutoFit/>
          </a:bodyPr>
          <a:lstStyle/>
          <a:p>
            <a:pPr algn="l"/>
            <a:r>
              <a:rPr b="0" sz="3000" i="0" u="none">
                <a:solidFill>
                  <a:srgbClr val="58A6FF"/>
                </a:solidFill>
                <a:latin typeface="Outfit ExtraBold"/>
              </a:rPr>
              <a:t>05</a:t>
            </a:r>
          </a:p>
        </p:txBody>
      </p:sp>
      <p:sp>
        <p:nvSpPr>
          <p:cNvPr id="19" name="TextBox 18"/>
          <p:cNvSpPr txBox="1"/>
          <p:nvPr/>
        </p:nvSpPr>
        <p:spPr>
          <a:xfrm>
            <a:off x="2133600" y="4471987"/>
            <a:ext cx="1857375" cy="285750"/>
          </a:xfrm>
          <a:prstGeom prst="rect">
            <a:avLst/>
          </a:prstGeom>
          <a:noFill/>
        </p:spPr>
        <p:txBody>
          <a:bodyPr wrap="square" lIns="0" rIns="0" tIns="0" bIns="0" anchor="t">
            <a:spAutoFit/>
          </a:bodyPr>
          <a:lstStyle/>
          <a:p>
            <a:pPr algn="l"/>
            <a:r>
              <a:rPr b="0" sz="1800" i="0" u="none">
                <a:solidFill>
                  <a:srgbClr val="FFFFFF"/>
                </a:solidFill>
                <a:latin typeface="Outfit Medium"/>
              </a:rPr>
              <a:t>Proposed Solution</a:t>
            </a:r>
          </a:p>
        </p:txBody>
      </p:sp>
      <p:sp>
        <p:nvSpPr>
          <p:cNvPr id="20" name="TextBox 19"/>
          <p:cNvSpPr txBox="1"/>
          <p:nvPr/>
        </p:nvSpPr>
        <p:spPr>
          <a:xfrm>
            <a:off x="6629400" y="4376737"/>
            <a:ext cx="476250" cy="476250"/>
          </a:xfrm>
          <a:prstGeom prst="rect">
            <a:avLst/>
          </a:prstGeom>
          <a:noFill/>
        </p:spPr>
        <p:txBody>
          <a:bodyPr wrap="square" lIns="0" rIns="0" tIns="0" bIns="0" anchor="t">
            <a:spAutoFit/>
          </a:bodyPr>
          <a:lstStyle/>
          <a:p>
            <a:pPr algn="l"/>
            <a:r>
              <a:rPr b="0" sz="3000" i="0" u="none">
                <a:solidFill>
                  <a:srgbClr val="58A6FF"/>
                </a:solidFill>
                <a:latin typeface="Outfit ExtraBold"/>
              </a:rPr>
              <a:t>06</a:t>
            </a:r>
          </a:p>
        </p:txBody>
      </p:sp>
      <p:sp>
        <p:nvSpPr>
          <p:cNvPr id="21" name="TextBox 20"/>
          <p:cNvSpPr txBox="1"/>
          <p:nvPr/>
        </p:nvSpPr>
        <p:spPr>
          <a:xfrm>
            <a:off x="7343775" y="4471987"/>
            <a:ext cx="2657475" cy="285750"/>
          </a:xfrm>
          <a:prstGeom prst="rect">
            <a:avLst/>
          </a:prstGeom>
          <a:noFill/>
        </p:spPr>
        <p:txBody>
          <a:bodyPr wrap="square" lIns="0" rIns="0" tIns="0" bIns="0" anchor="t">
            <a:spAutoFit/>
          </a:bodyPr>
          <a:lstStyle/>
          <a:p>
            <a:pPr algn="l"/>
            <a:r>
              <a:rPr b="0" sz="1800" i="0" u="none">
                <a:solidFill>
                  <a:srgbClr val="FFFFFF"/>
                </a:solidFill>
                <a:latin typeface="Outfit Medium"/>
              </a:rPr>
              <a:t>Mapping with SDGs Goals</a:t>
            </a:r>
          </a:p>
        </p:txBody>
      </p:sp>
      <p:sp>
        <p:nvSpPr>
          <p:cNvPr id="22" name="TextBox 21"/>
          <p:cNvSpPr txBox="1"/>
          <p:nvPr/>
        </p:nvSpPr>
        <p:spPr>
          <a:xfrm>
            <a:off x="1419225" y="5634037"/>
            <a:ext cx="447675" cy="476250"/>
          </a:xfrm>
          <a:prstGeom prst="rect">
            <a:avLst/>
          </a:prstGeom>
          <a:noFill/>
        </p:spPr>
        <p:txBody>
          <a:bodyPr wrap="square" lIns="0" rIns="0" tIns="0" bIns="0" anchor="t">
            <a:spAutoFit/>
          </a:bodyPr>
          <a:lstStyle/>
          <a:p>
            <a:pPr algn="l"/>
            <a:r>
              <a:rPr b="0" sz="3000" i="0" u="none">
                <a:solidFill>
                  <a:srgbClr val="58A6FF"/>
                </a:solidFill>
                <a:latin typeface="Outfit ExtraBold"/>
              </a:rPr>
              <a:t>07</a:t>
            </a:r>
          </a:p>
        </p:txBody>
      </p:sp>
      <p:sp>
        <p:nvSpPr>
          <p:cNvPr id="23" name="TextBox 22"/>
          <p:cNvSpPr txBox="1"/>
          <p:nvPr/>
        </p:nvSpPr>
        <p:spPr>
          <a:xfrm>
            <a:off x="2105025" y="5729287"/>
            <a:ext cx="1133475" cy="285750"/>
          </a:xfrm>
          <a:prstGeom prst="rect">
            <a:avLst/>
          </a:prstGeom>
          <a:noFill/>
        </p:spPr>
        <p:txBody>
          <a:bodyPr wrap="square" lIns="0" rIns="0" tIns="0" bIns="0" anchor="t">
            <a:spAutoFit/>
          </a:bodyPr>
          <a:lstStyle/>
          <a:p>
            <a:pPr algn="l"/>
            <a:r>
              <a:rPr b="0" sz="1800" i="0" u="none">
                <a:solidFill>
                  <a:srgbClr val="FFFFFF"/>
                </a:solidFill>
                <a:latin typeface="Outfit Medium"/>
              </a:rPr>
              <a:t>References</a:t>
            </a:r>
          </a:p>
        </p:txBody>
      </p:sp>
      <p:sp>
        <p:nvSpPr>
          <p:cNvPr id="24" name="TextBox 23"/>
          <p:cNvSpPr txBox="1"/>
          <p:nvPr/>
        </p:nvSpPr>
        <p:spPr>
          <a:xfrm>
            <a:off x="571500" y="500062"/>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Table of </a:t>
            </a:r>
            <a:r>
              <a:rPr b="1" sz="3600" i="0" u="none">
                <a:solidFill>
                  <a:srgbClr val="58A6FF"/>
                </a:solidFill>
                <a:latin typeface="Outfit"/>
              </a:rPr>
              <a:t>Content</a:t>
            </a:r>
          </a:p>
        </p:txBody>
      </p:sp>
      <p:sp>
        <p:nvSpPr>
          <p:cNvPr id="25" name="Rectangle 24"/>
          <p:cNvSpPr/>
          <p:nvPr/>
        </p:nvSpPr>
        <p:spPr>
          <a:xfrm>
            <a:off x="571500" y="1214437"/>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81212"/>
            <a:ext cx="5286375" cy="3810000"/>
          </a:xfrm>
          <a:prstGeom prst="rect">
            <a:avLst/>
          </a:prstGeom>
        </p:spPr>
      </p:pic>
      <p:sp>
        <p:nvSpPr>
          <p:cNvPr id="4" name="TextBox 3"/>
          <p:cNvSpPr txBox="1"/>
          <p:nvPr/>
        </p:nvSpPr>
        <p:spPr>
          <a:xfrm>
            <a:off x="571500" y="2077640"/>
            <a:ext cx="5286375" cy="1340643"/>
          </a:xfrm>
          <a:prstGeom prst="rect">
            <a:avLst/>
          </a:prstGeom>
          <a:noFill/>
        </p:spPr>
        <p:txBody>
          <a:bodyPr wrap="square" lIns="0" rIns="0" tIns="0" bIns="0" anchor="t">
            <a:spAutoFit/>
          </a:bodyPr>
          <a:lstStyle/>
          <a:p>
            <a:pPr algn="l">
              <a:lnSpc>
                <a:spcPts val="2640"/>
              </a:lnSpc>
            </a:pPr>
            <a:r>
              <a:rPr b="0" sz="1650" i="0" u="none">
                <a:solidFill>
                  <a:srgbClr val="C9D1D9"/>
                </a:solidFill>
                <a:latin typeface="Inter"/>
              </a:rPr>
              <a:t>Clouderator aims to simplify cloud infrastructure design and management by replacing traditional cloud consoles with an AI-powered, natural language interface.</a:t>
            </a:r>
          </a:p>
        </p:txBody>
      </p:sp>
      <p:sp>
        <p:nvSpPr>
          <p:cNvPr id="5" name="TextBox 4"/>
          <p:cNvSpPr txBox="1"/>
          <p:nvPr/>
        </p:nvSpPr>
        <p:spPr>
          <a:xfrm>
            <a:off x="904875" y="3608784"/>
            <a:ext cx="4953000" cy="304800"/>
          </a:xfrm>
          <a:prstGeom prst="rect">
            <a:avLst/>
          </a:prstGeom>
          <a:noFill/>
        </p:spPr>
        <p:txBody>
          <a:bodyPr wrap="square" lIns="0" rIns="0" tIns="0" bIns="0" anchor="t">
            <a:spAutoFit/>
          </a:bodyPr>
          <a:lstStyle/>
          <a:p>
            <a:pPr algn="l">
              <a:lnSpc>
                <a:spcPts val="2400"/>
              </a:lnSpc>
            </a:pPr>
            <a:r>
              <a:rPr b="0" sz="1500" i="0" u="none">
                <a:solidFill>
                  <a:srgbClr val="C9D1D9"/>
                </a:solidFill>
                <a:latin typeface="Inter"/>
              </a:rPr>
              <a:t>Acts as a comprehensive AI Infrastructure Engineer.</a:t>
            </a:r>
          </a:p>
        </p:txBody>
      </p:sp>
      <p:sp>
        <p:nvSpPr>
          <p:cNvPr id="6" name="TextBox 5"/>
          <p:cNvSpPr txBox="1"/>
          <p:nvPr/>
        </p:nvSpPr>
        <p:spPr>
          <a:xfrm>
            <a:off x="904875" y="4104084"/>
            <a:ext cx="4953000" cy="304800"/>
          </a:xfrm>
          <a:prstGeom prst="rect">
            <a:avLst/>
          </a:prstGeom>
          <a:noFill/>
        </p:spPr>
        <p:txBody>
          <a:bodyPr wrap="square" lIns="0" rIns="0" tIns="0" bIns="0" anchor="t">
            <a:spAutoFit/>
          </a:bodyPr>
          <a:lstStyle/>
          <a:p>
            <a:pPr algn="l">
              <a:lnSpc>
                <a:spcPts val="2400"/>
              </a:lnSpc>
            </a:pPr>
            <a:r>
              <a:rPr b="0" sz="1500" i="0" u="none">
                <a:solidFill>
                  <a:srgbClr val="C9D1D9"/>
                </a:solidFill>
                <a:latin typeface="Inter"/>
              </a:rPr>
              <a:t>Translates plain language into optimized architecture.</a:t>
            </a:r>
          </a:p>
        </p:txBody>
      </p:sp>
      <p:sp>
        <p:nvSpPr>
          <p:cNvPr id="7" name="TextBox 6"/>
          <p:cNvSpPr txBox="1"/>
          <p:nvPr/>
        </p:nvSpPr>
        <p:spPr>
          <a:xfrm>
            <a:off x="904875" y="4599384"/>
            <a:ext cx="4953000" cy="609600"/>
          </a:xfrm>
          <a:prstGeom prst="rect">
            <a:avLst/>
          </a:prstGeom>
          <a:noFill/>
        </p:spPr>
        <p:txBody>
          <a:bodyPr wrap="square" lIns="0" rIns="0" tIns="0" bIns="0" anchor="t">
            <a:spAutoFit/>
          </a:bodyPr>
          <a:lstStyle/>
          <a:p>
            <a:pPr algn="l">
              <a:lnSpc>
                <a:spcPts val="2400"/>
              </a:lnSpc>
            </a:pPr>
            <a:r>
              <a:rPr b="0" sz="1500" i="0" u="none">
                <a:solidFill>
                  <a:srgbClr val="C9D1D9"/>
                </a:solidFill>
                <a:latin typeface="Inter"/>
              </a:rPr>
              <a:t>Generates deployment-ready Infrastructure as Code (IaC).</a:t>
            </a:r>
          </a:p>
        </p:txBody>
      </p:sp>
      <p:sp>
        <p:nvSpPr>
          <p:cNvPr id="8" name="TextBox 7"/>
          <p:cNvSpPr txBox="1"/>
          <p:nvPr/>
        </p:nvSpPr>
        <p:spPr>
          <a:xfrm>
            <a:off x="904875" y="5399484"/>
            <a:ext cx="4953000" cy="304800"/>
          </a:xfrm>
          <a:prstGeom prst="rect">
            <a:avLst/>
          </a:prstGeom>
          <a:noFill/>
        </p:spPr>
        <p:txBody>
          <a:bodyPr wrap="square" lIns="0" rIns="0" tIns="0" bIns="0" anchor="t">
            <a:spAutoFit/>
          </a:bodyPr>
          <a:lstStyle/>
          <a:p>
            <a:pPr algn="l">
              <a:lnSpc>
                <a:spcPts val="2400"/>
              </a:lnSpc>
            </a:pPr>
            <a:r>
              <a:rPr b="0" sz="1500" i="0" u="none">
                <a:solidFill>
                  <a:srgbClr val="C9D1D9"/>
                </a:solidFill>
                <a:latin typeface="Inter"/>
              </a:rPr>
              <a:t>Monitors, troubleshoots, and optimizes seamlessly.</a:t>
            </a:r>
          </a:p>
        </p:txBody>
      </p:sp>
      <p:pic>
        <p:nvPicPr>
          <p:cNvPr id="9" name="Picture 8" descr="image.png"/>
          <p:cNvPicPr>
            <a:picLocks noChangeAspect="1"/>
          </p:cNvPicPr>
          <p:nvPr/>
        </p:nvPicPr>
        <p:blipFill>
          <a:blip r:embed="rId4"/>
          <a:stretch>
            <a:fillRect/>
          </a:stretch>
        </p:blipFill>
        <p:spPr>
          <a:xfrm>
            <a:off x="6438900" y="2185987"/>
            <a:ext cx="5076825" cy="3600450"/>
          </a:xfrm>
          <a:prstGeom prst="rect">
            <a:avLst/>
          </a:prstGeom>
        </p:spPr>
      </p:pic>
      <p:sp>
        <p:nvSpPr>
          <p:cNvPr id="10" name="TextBox 9"/>
          <p:cNvSpPr txBox="1"/>
          <p:nvPr/>
        </p:nvSpPr>
        <p:spPr>
          <a:xfrm>
            <a:off x="571500" y="571500"/>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01. </a:t>
            </a:r>
            <a:r>
              <a:rPr b="1" sz="3600" i="0" u="none">
                <a:solidFill>
                  <a:srgbClr val="58A6FF"/>
                </a:solidFill>
                <a:latin typeface="Outfit"/>
              </a:rPr>
              <a:t>Introduction</a:t>
            </a:r>
          </a:p>
        </p:txBody>
      </p:sp>
      <p:sp>
        <p:nvSpPr>
          <p:cNvPr id="11" name="Rectangle 10"/>
          <p:cNvSpPr/>
          <p:nvPr/>
        </p:nvSpPr>
        <p:spPr>
          <a:xfrm>
            <a:off x="571500" y="1285875"/>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5"/>
          <a:stretch>
            <a:fillRect/>
          </a:stretch>
        </p:blipFill>
        <p:spPr>
          <a:xfrm>
            <a:off x="571500" y="3627834"/>
            <a:ext cx="171450" cy="200025"/>
          </a:xfrm>
          <a:prstGeom prst="rect">
            <a:avLst/>
          </a:prstGeom>
        </p:spPr>
      </p:pic>
      <p:pic>
        <p:nvPicPr>
          <p:cNvPr id="13" name="Picture 12" descr="image.png"/>
          <p:cNvPicPr>
            <a:picLocks noChangeAspect="1"/>
          </p:cNvPicPr>
          <p:nvPr/>
        </p:nvPicPr>
        <p:blipFill>
          <a:blip r:embed="rId5"/>
          <a:stretch>
            <a:fillRect/>
          </a:stretch>
        </p:blipFill>
        <p:spPr>
          <a:xfrm>
            <a:off x="571500" y="4123134"/>
            <a:ext cx="171450" cy="200025"/>
          </a:xfrm>
          <a:prstGeom prst="rect">
            <a:avLst/>
          </a:prstGeom>
        </p:spPr>
      </p:pic>
      <p:pic>
        <p:nvPicPr>
          <p:cNvPr id="14" name="Picture 13" descr="image.png"/>
          <p:cNvPicPr>
            <a:picLocks noChangeAspect="1"/>
          </p:cNvPicPr>
          <p:nvPr/>
        </p:nvPicPr>
        <p:blipFill>
          <a:blip r:embed="rId5"/>
          <a:stretch>
            <a:fillRect/>
          </a:stretch>
        </p:blipFill>
        <p:spPr>
          <a:xfrm>
            <a:off x="571500" y="4618434"/>
            <a:ext cx="171450" cy="200025"/>
          </a:xfrm>
          <a:prstGeom prst="rect">
            <a:avLst/>
          </a:prstGeom>
        </p:spPr>
      </p:pic>
      <p:pic>
        <p:nvPicPr>
          <p:cNvPr id="15" name="Picture 14" descr="image.png"/>
          <p:cNvPicPr>
            <a:picLocks noChangeAspect="1"/>
          </p:cNvPicPr>
          <p:nvPr/>
        </p:nvPicPr>
        <p:blipFill>
          <a:blip r:embed="rId5"/>
          <a:stretch>
            <a:fillRect/>
          </a:stretch>
        </p:blipFill>
        <p:spPr>
          <a:xfrm>
            <a:off x="571500" y="5418534"/>
            <a:ext cx="171450" cy="20002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06066"/>
            <a:ext cx="3429000" cy="3760291"/>
          </a:xfrm>
          <a:prstGeom prst="rect">
            <a:avLst/>
          </a:prstGeom>
        </p:spPr>
      </p:pic>
      <p:pic>
        <p:nvPicPr>
          <p:cNvPr id="4" name="Picture 3" descr="image.png"/>
          <p:cNvPicPr>
            <a:picLocks noChangeAspect="1"/>
          </p:cNvPicPr>
          <p:nvPr/>
        </p:nvPicPr>
        <p:blipFill>
          <a:blip r:embed="rId4"/>
          <a:stretch>
            <a:fillRect/>
          </a:stretch>
        </p:blipFill>
        <p:spPr>
          <a:xfrm>
            <a:off x="4381500" y="2106066"/>
            <a:ext cx="3429000" cy="3760291"/>
          </a:xfrm>
          <a:prstGeom prst="rect">
            <a:avLst/>
          </a:prstGeom>
        </p:spPr>
      </p:pic>
      <p:pic>
        <p:nvPicPr>
          <p:cNvPr id="5" name="Picture 4" descr="image.png"/>
          <p:cNvPicPr>
            <a:picLocks noChangeAspect="1"/>
          </p:cNvPicPr>
          <p:nvPr/>
        </p:nvPicPr>
        <p:blipFill>
          <a:blip r:embed="rId5"/>
          <a:stretch>
            <a:fillRect/>
          </a:stretch>
        </p:blipFill>
        <p:spPr>
          <a:xfrm>
            <a:off x="8191500" y="2106066"/>
            <a:ext cx="3429000" cy="3760291"/>
          </a:xfrm>
          <a:prstGeom prst="rect">
            <a:avLst/>
          </a:prstGeom>
        </p:spPr>
      </p:pic>
      <p:pic>
        <p:nvPicPr>
          <p:cNvPr id="6" name="Picture 5" descr="image.png"/>
          <p:cNvPicPr>
            <a:picLocks noChangeAspect="1"/>
          </p:cNvPicPr>
          <p:nvPr/>
        </p:nvPicPr>
        <p:blipFill>
          <a:blip r:embed="rId6"/>
          <a:stretch>
            <a:fillRect/>
          </a:stretch>
        </p:blipFill>
        <p:spPr>
          <a:xfrm>
            <a:off x="866775" y="2496591"/>
            <a:ext cx="666750" cy="666750"/>
          </a:xfrm>
          <a:prstGeom prst="rect">
            <a:avLst/>
          </a:prstGeom>
        </p:spPr>
      </p:pic>
      <p:sp>
        <p:nvSpPr>
          <p:cNvPr id="7" name="TextBox 6"/>
          <p:cNvSpPr txBox="1"/>
          <p:nvPr/>
        </p:nvSpPr>
        <p:spPr>
          <a:xfrm>
            <a:off x="866775" y="3401466"/>
            <a:ext cx="2550318" cy="285750"/>
          </a:xfrm>
          <a:prstGeom prst="rect">
            <a:avLst/>
          </a:prstGeom>
          <a:noFill/>
        </p:spPr>
        <p:txBody>
          <a:bodyPr wrap="square" lIns="0" rIns="0" tIns="0" bIns="0" anchor="t">
            <a:spAutoFit/>
          </a:bodyPr>
          <a:lstStyle/>
          <a:p>
            <a:pPr algn="l"/>
            <a:r>
              <a:rPr b="0" sz="1800" i="0" u="none">
                <a:solidFill>
                  <a:srgbClr val="FFFFFF"/>
                </a:solidFill>
                <a:latin typeface="Outfit SemiBold"/>
              </a:rPr>
              <a:t>Natural Language First</a:t>
            </a:r>
          </a:p>
        </p:txBody>
      </p:sp>
      <p:sp>
        <p:nvSpPr>
          <p:cNvPr id="8" name="TextBox 7"/>
          <p:cNvSpPr txBox="1"/>
          <p:nvPr/>
        </p:nvSpPr>
        <p:spPr>
          <a:xfrm>
            <a:off x="866775" y="3830091"/>
            <a:ext cx="2838450" cy="1371451"/>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Abstracts the extreme complexity of cloud platforms, enabling users to design and deploy resilient architectures using intuitive conversational AI.</a:t>
            </a:r>
          </a:p>
        </p:txBody>
      </p:sp>
      <p:pic>
        <p:nvPicPr>
          <p:cNvPr id="9" name="Picture 8" descr="image.png"/>
          <p:cNvPicPr>
            <a:picLocks noChangeAspect="1"/>
          </p:cNvPicPr>
          <p:nvPr/>
        </p:nvPicPr>
        <p:blipFill>
          <a:blip r:embed="rId7"/>
          <a:stretch>
            <a:fillRect/>
          </a:stretch>
        </p:blipFill>
        <p:spPr>
          <a:xfrm>
            <a:off x="4676775" y="2496591"/>
            <a:ext cx="666750" cy="666750"/>
          </a:xfrm>
          <a:prstGeom prst="rect">
            <a:avLst/>
          </a:prstGeom>
        </p:spPr>
      </p:pic>
      <p:sp>
        <p:nvSpPr>
          <p:cNvPr id="10" name="TextBox 9"/>
          <p:cNvSpPr txBox="1"/>
          <p:nvPr/>
        </p:nvSpPr>
        <p:spPr>
          <a:xfrm>
            <a:off x="4676775" y="3401466"/>
            <a:ext cx="2640330" cy="285750"/>
          </a:xfrm>
          <a:prstGeom prst="rect">
            <a:avLst/>
          </a:prstGeom>
          <a:noFill/>
        </p:spPr>
        <p:txBody>
          <a:bodyPr wrap="square" lIns="0" rIns="0" tIns="0" bIns="0" anchor="t">
            <a:spAutoFit/>
          </a:bodyPr>
          <a:lstStyle/>
          <a:p>
            <a:pPr algn="l"/>
            <a:r>
              <a:rPr b="0" sz="1800" i="0" u="none">
                <a:solidFill>
                  <a:srgbClr val="FFFFFF"/>
                </a:solidFill>
                <a:latin typeface="Outfit SemiBold"/>
              </a:rPr>
              <a:t>Explainability by Design</a:t>
            </a:r>
          </a:p>
        </p:txBody>
      </p:sp>
      <p:sp>
        <p:nvSpPr>
          <p:cNvPr id="11" name="TextBox 10"/>
          <p:cNvSpPr txBox="1"/>
          <p:nvPr/>
        </p:nvSpPr>
        <p:spPr>
          <a:xfrm>
            <a:off x="4676775" y="3830091"/>
            <a:ext cx="2838450" cy="1645741"/>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Provides complete transparency. Every architectural recommendation includes clear trade-offs, expected impacts, confidence scores, and reasoning.</a:t>
            </a:r>
          </a:p>
        </p:txBody>
      </p:sp>
      <p:pic>
        <p:nvPicPr>
          <p:cNvPr id="12" name="Picture 11" descr="image.png"/>
          <p:cNvPicPr>
            <a:picLocks noChangeAspect="1"/>
          </p:cNvPicPr>
          <p:nvPr/>
        </p:nvPicPr>
        <p:blipFill>
          <a:blip r:embed="rId8"/>
          <a:stretch>
            <a:fillRect/>
          </a:stretch>
        </p:blipFill>
        <p:spPr>
          <a:xfrm>
            <a:off x="8486775" y="2496591"/>
            <a:ext cx="666750" cy="666750"/>
          </a:xfrm>
          <a:prstGeom prst="rect">
            <a:avLst/>
          </a:prstGeom>
        </p:spPr>
      </p:pic>
      <p:sp>
        <p:nvSpPr>
          <p:cNvPr id="13" name="TextBox 12"/>
          <p:cNvSpPr txBox="1"/>
          <p:nvPr/>
        </p:nvSpPr>
        <p:spPr>
          <a:xfrm>
            <a:off x="8486775" y="3401466"/>
            <a:ext cx="2790348" cy="285750"/>
          </a:xfrm>
          <a:prstGeom prst="rect">
            <a:avLst/>
          </a:prstGeom>
          <a:noFill/>
        </p:spPr>
        <p:txBody>
          <a:bodyPr wrap="square" lIns="0" rIns="0" tIns="0" bIns="0" anchor="t">
            <a:spAutoFit/>
          </a:bodyPr>
          <a:lstStyle/>
          <a:p>
            <a:pPr algn="l"/>
            <a:r>
              <a:rPr b="0" sz="1800" i="0" u="none">
                <a:solidFill>
                  <a:srgbClr val="FFFFFF"/>
                </a:solidFill>
                <a:latin typeface="Outfit SemiBold"/>
              </a:rPr>
              <a:t>Continuous AI Assistance</a:t>
            </a:r>
          </a:p>
        </p:txBody>
      </p:sp>
      <p:sp>
        <p:nvSpPr>
          <p:cNvPr id="14" name="TextBox 13"/>
          <p:cNvSpPr txBox="1"/>
          <p:nvPr/>
        </p:nvSpPr>
        <p:spPr>
          <a:xfrm>
            <a:off x="8486775" y="3830091"/>
            <a:ext cx="2838450" cy="1371451"/>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Reduces the learning curve by offering end-to-end intelligent support—before, during, and after deployment, acting as an active DevOps partner.</a:t>
            </a:r>
          </a:p>
        </p:txBody>
      </p:sp>
      <p:pic>
        <p:nvPicPr>
          <p:cNvPr id="15" name="Picture 14" descr="image.png"/>
          <p:cNvPicPr>
            <a:picLocks noChangeAspect="1"/>
          </p:cNvPicPr>
          <p:nvPr/>
        </p:nvPicPr>
        <p:blipFill>
          <a:blip r:embed="rId9"/>
          <a:stretch>
            <a:fillRect/>
          </a:stretch>
        </p:blipFill>
        <p:spPr>
          <a:xfrm>
            <a:off x="1047750" y="2677566"/>
            <a:ext cx="304800" cy="304800"/>
          </a:xfrm>
          <a:prstGeom prst="rect">
            <a:avLst/>
          </a:prstGeom>
        </p:spPr>
      </p:pic>
      <p:pic>
        <p:nvPicPr>
          <p:cNvPr id="16" name="Picture 15" descr="image.png"/>
          <p:cNvPicPr>
            <a:picLocks noChangeAspect="1"/>
          </p:cNvPicPr>
          <p:nvPr/>
        </p:nvPicPr>
        <p:blipFill>
          <a:blip r:embed="rId10"/>
          <a:stretch>
            <a:fillRect/>
          </a:stretch>
        </p:blipFill>
        <p:spPr>
          <a:xfrm>
            <a:off x="4838700" y="2677566"/>
            <a:ext cx="342900" cy="304800"/>
          </a:xfrm>
          <a:prstGeom prst="rect">
            <a:avLst/>
          </a:prstGeom>
        </p:spPr>
      </p:pic>
      <p:pic>
        <p:nvPicPr>
          <p:cNvPr id="17" name="Picture 16" descr="image.png"/>
          <p:cNvPicPr>
            <a:picLocks noChangeAspect="1"/>
          </p:cNvPicPr>
          <p:nvPr/>
        </p:nvPicPr>
        <p:blipFill>
          <a:blip r:embed="rId11"/>
          <a:stretch>
            <a:fillRect/>
          </a:stretch>
        </p:blipFill>
        <p:spPr>
          <a:xfrm>
            <a:off x="8629650" y="2677566"/>
            <a:ext cx="381000" cy="304800"/>
          </a:xfrm>
          <a:prstGeom prst="rect">
            <a:avLst/>
          </a:prstGeom>
        </p:spPr>
      </p:pic>
      <p:sp>
        <p:nvSpPr>
          <p:cNvPr id="18" name="TextBox 17"/>
          <p:cNvSpPr txBox="1"/>
          <p:nvPr/>
        </p:nvSpPr>
        <p:spPr>
          <a:xfrm>
            <a:off x="571500" y="571500"/>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02. </a:t>
            </a:r>
            <a:r>
              <a:rPr b="1" sz="3600" i="0" u="none">
                <a:solidFill>
                  <a:srgbClr val="58A6FF"/>
                </a:solidFill>
                <a:latin typeface="Outfit"/>
              </a:rPr>
              <a:t>Objective</a:t>
            </a:r>
          </a:p>
        </p:txBody>
      </p:sp>
      <p:sp>
        <p:nvSpPr>
          <p:cNvPr id="19" name="Rectangle 18"/>
          <p:cNvSpPr/>
          <p:nvPr/>
        </p:nvSpPr>
        <p:spPr>
          <a:xfrm>
            <a:off x="571500" y="1285875"/>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857250" y="477440"/>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19250" y="715565"/>
            <a:ext cx="9429750" cy="10400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Traditional Cloud Management</a:t>
            </a:r>
            <a:r>
              <a:rPr b="0" sz="1500" i="0" u="none">
                <a:solidFill>
                  <a:srgbClr val="C9D1D9"/>
                </a:solidFill>
                <a:latin typeface="Inter"/>
              </a:rPr>
              <a:t> Requires deep domain expertise to manually configure complex networking, security, and scaling services, creating an enormous bottleneck and steep learning curve.</a:t>
            </a:r>
          </a:p>
        </p:txBody>
      </p:sp>
      <p:sp>
        <p:nvSpPr>
          <p:cNvPr id="5" name="Rounded Rectangle 4"/>
          <p:cNvSpPr/>
          <p:nvPr/>
        </p:nvSpPr>
        <p:spPr>
          <a:xfrm>
            <a:off x="857250" y="2231826"/>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9250" y="2469951"/>
            <a:ext cx="9429750" cy="10400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Infrastructure as Code (IaC)</a:t>
            </a:r>
            <a:r>
              <a:rPr b="0" sz="1500" i="0" u="none">
                <a:solidFill>
                  <a:srgbClr val="C9D1D9"/>
                </a:solidFill>
                <a:latin typeface="Inter"/>
              </a:rPr>
              <a:t> While frameworks like Terraform and CloudFormation bring essential automation, they strictly require specialized programming skills and extensive architectural knowledge.</a:t>
            </a:r>
          </a:p>
        </p:txBody>
      </p:sp>
      <p:sp>
        <p:nvSpPr>
          <p:cNvPr id="7" name="Rounded Rectangle 6"/>
          <p:cNvSpPr/>
          <p:nvPr/>
        </p:nvSpPr>
        <p:spPr>
          <a:xfrm>
            <a:off x="857250" y="3986212"/>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9250" y="4224337"/>
            <a:ext cx="9429750" cy="10400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AI in Cloud Operations</a:t>
            </a:r>
            <a:r>
              <a:rPr b="0" sz="1500" i="0" u="none">
                <a:solidFill>
                  <a:srgbClr val="C9D1D9"/>
                </a:solidFill>
                <a:latin typeface="Inter"/>
              </a:rPr>
              <a:t> Current AI tools assist primarily with basic code snippet generation but lack holistic, context-aware architectural understanding and end-to-end lifecycle management.</a:t>
            </a:r>
          </a:p>
        </p:txBody>
      </p:sp>
      <p:sp>
        <p:nvSpPr>
          <p:cNvPr id="9" name="Rounded Rectangle 8"/>
          <p:cNvSpPr/>
          <p:nvPr/>
        </p:nvSpPr>
        <p:spPr>
          <a:xfrm>
            <a:off x="857250" y="5740598"/>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9250" y="5978723"/>
            <a:ext cx="9429750" cy="879276"/>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The Identified Gap</a:t>
            </a:r>
            <a:r>
              <a:rPr b="0" sz="1500" i="0" u="none">
                <a:solidFill>
                  <a:srgbClr val="C9D1D9"/>
                </a:solidFill>
                <a:latin typeface="Inter"/>
              </a:rPr>
              <a:t> There is a critical absence of integrated platforms that can autonomously design, logically explain, seamlessly deploy, and manage infrastructures purely from natural language.</a:t>
            </a:r>
          </a:p>
        </p:txBody>
      </p:sp>
      <p:sp>
        <p:nvSpPr>
          <p:cNvPr id="11" name="Rectangle 10"/>
          <p:cNvSpPr/>
          <p:nvPr/>
        </p:nvSpPr>
        <p:spPr>
          <a:xfrm>
            <a:off x="857250" y="1984176"/>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7250" y="3738562"/>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250" y="5492948"/>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7250" y="7247334"/>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1152525" y="744140"/>
            <a:ext cx="228600" cy="247650"/>
          </a:xfrm>
          <a:prstGeom prst="rect">
            <a:avLst/>
          </a:prstGeom>
        </p:spPr>
      </p:pic>
      <p:pic>
        <p:nvPicPr>
          <p:cNvPr id="16" name="Picture 15" descr="image.png"/>
          <p:cNvPicPr>
            <a:picLocks noChangeAspect="1"/>
          </p:cNvPicPr>
          <p:nvPr/>
        </p:nvPicPr>
        <p:blipFill>
          <a:blip r:embed="rId4"/>
          <a:stretch>
            <a:fillRect/>
          </a:stretch>
        </p:blipFill>
        <p:spPr>
          <a:xfrm>
            <a:off x="1152525" y="2498526"/>
            <a:ext cx="285750" cy="247650"/>
          </a:xfrm>
          <a:prstGeom prst="rect">
            <a:avLst/>
          </a:prstGeom>
        </p:spPr>
      </p:pic>
      <p:pic>
        <p:nvPicPr>
          <p:cNvPr id="17" name="Picture 16" descr="image.png"/>
          <p:cNvPicPr>
            <a:picLocks noChangeAspect="1"/>
          </p:cNvPicPr>
          <p:nvPr/>
        </p:nvPicPr>
        <p:blipFill>
          <a:blip r:embed="rId5"/>
          <a:stretch>
            <a:fillRect/>
          </a:stretch>
        </p:blipFill>
        <p:spPr>
          <a:xfrm>
            <a:off x="1152525" y="4252912"/>
            <a:ext cx="228600" cy="247650"/>
          </a:xfrm>
          <a:prstGeom prst="rect">
            <a:avLst/>
          </a:prstGeom>
        </p:spPr>
      </p:pic>
      <p:pic>
        <p:nvPicPr>
          <p:cNvPr id="18" name="Picture 17" descr="image.png"/>
          <p:cNvPicPr>
            <a:picLocks noChangeAspect="1"/>
          </p:cNvPicPr>
          <p:nvPr/>
        </p:nvPicPr>
        <p:blipFill>
          <a:blip r:embed="rId6"/>
          <a:stretch>
            <a:fillRect/>
          </a:stretch>
        </p:blipFill>
        <p:spPr>
          <a:xfrm>
            <a:off x="1152525" y="6007298"/>
            <a:ext cx="228600" cy="247650"/>
          </a:xfrm>
          <a:prstGeom prst="rect">
            <a:avLst/>
          </a:prstGeom>
        </p:spPr>
      </p:pic>
      <p:sp>
        <p:nvSpPr>
          <p:cNvPr id="19" name="TextBox 18"/>
          <p:cNvSpPr txBox="1"/>
          <p:nvPr/>
        </p:nvSpPr>
        <p:spPr>
          <a:xfrm>
            <a:off x="571500" y="-636984"/>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03. </a:t>
            </a:r>
            <a:r>
              <a:rPr b="1" sz="3600" i="0" u="none">
                <a:solidFill>
                  <a:srgbClr val="58A6FF"/>
                </a:solidFill>
                <a:latin typeface="Outfit"/>
              </a:rPr>
              <a:t>Literature Survey</a:t>
            </a:r>
          </a:p>
        </p:txBody>
      </p:sp>
      <p:sp>
        <p:nvSpPr>
          <p:cNvPr id="20" name="Rectangle 19"/>
          <p:cNvSpPr/>
          <p:nvPr/>
        </p:nvSpPr>
        <p:spPr>
          <a:xfrm>
            <a:off x="571500" y="77390"/>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90550"/>
          </a:xfrm>
          <a:prstGeom prst="rect">
            <a:avLst/>
          </a:prstGeom>
          <a:noFill/>
        </p:spPr>
        <p:txBody>
          <a:bodyPr wrap="square" lIns="0" rIns="0" tIns="0" bIns="0" anchor="t">
            <a:spAutoFit/>
          </a:bodyPr>
          <a:lstStyle/>
          <a:p>
            <a:pPr algn="l"/>
            <a:r>
              <a:rPr b="1" sz="3600" i="0" u="none">
                <a:solidFill>
                  <a:srgbClr val="FFFFFF"/>
                </a:solidFill>
                <a:latin typeface="Outfit"/>
              </a:rPr>
              <a:t>04. </a:t>
            </a:r>
            <a:r>
              <a:rPr b="1" sz="3600" i="0" u="none">
                <a:solidFill>
                  <a:srgbClr val="58A6FF"/>
                </a:solidFill>
                <a:latin typeface="Outfit"/>
              </a:rPr>
              <a:t>Problem Statement</a:t>
            </a:r>
          </a:p>
        </p:txBody>
      </p:sp>
      <p:sp>
        <p:nvSpPr>
          <p:cNvPr id="4" name="Rectangle 3"/>
          <p:cNvSpPr/>
          <p:nvPr/>
        </p:nvSpPr>
        <p:spPr>
          <a:xfrm>
            <a:off x="571500" y="1285875"/>
            <a:ext cx="5286375"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6334125" y="0"/>
            <a:ext cx="5857875" cy="6858000"/>
          </a:xfrm>
          <a:prstGeom prst="rect">
            <a:avLst/>
          </a:prstGeom>
        </p:spPr>
      </p:pic>
      <p:sp>
        <p:nvSpPr>
          <p:cNvPr id="6" name="TextBox 5"/>
          <p:cNvSpPr txBox="1"/>
          <p:nvPr/>
        </p:nvSpPr>
        <p:spPr>
          <a:xfrm>
            <a:off x="571500" y="2626072"/>
            <a:ext cx="5286375" cy="2720131"/>
          </a:xfrm>
          <a:prstGeom prst="rect">
            <a:avLst/>
          </a:prstGeom>
          <a:noFill/>
        </p:spPr>
        <p:txBody>
          <a:bodyPr wrap="square" lIns="0" rIns="0" tIns="0" bIns="0" anchor="t">
            <a:spAutoFit/>
          </a:bodyPr>
          <a:lstStyle/>
          <a:p>
            <a:pPr algn="l">
              <a:lnSpc>
                <a:spcPts val="3060"/>
              </a:lnSpc>
            </a:pPr>
            <a:r>
              <a:rPr b="0" sz="1800" i="0" u="none">
                <a:solidFill>
                  <a:srgbClr val="C9D1D9"/>
                </a:solidFill>
                <a:latin typeface="Inter"/>
              </a:rPr>
              <a:t>Users struggle with manual configuration of complex services like networking, databases, and security. This complexity leads to suboptimal architectures, security vulnerabilities, and uncontrolled costs, especially for startups and students. Clouderator abstracts this complexity 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4205287"/>
            <a:ext cx="11049000" cy="3810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7968" y="2506265"/>
            <a:ext cx="2668302" cy="266700"/>
          </a:xfrm>
          <a:prstGeom prst="rect">
            <a:avLst/>
          </a:prstGeom>
          <a:noFill/>
        </p:spPr>
        <p:txBody>
          <a:bodyPr wrap="square" lIns="0" rIns="0" tIns="0" bIns="0" anchor="t">
            <a:spAutoFit/>
          </a:bodyPr>
          <a:lstStyle/>
          <a:p>
            <a:pPr algn="ctr"/>
            <a:r>
              <a:rPr b="0" sz="1650" i="0" u="none">
                <a:solidFill>
                  <a:srgbClr val="58A6FF"/>
                </a:solidFill>
                <a:latin typeface="Outfit SemiBold"/>
              </a:rPr>
              <a:t>1. Requirement Analysis</a:t>
            </a:r>
          </a:p>
        </p:txBody>
      </p:sp>
      <p:sp>
        <p:nvSpPr>
          <p:cNvPr id="5" name="TextBox 4"/>
          <p:cNvSpPr txBox="1"/>
          <p:nvPr/>
        </p:nvSpPr>
        <p:spPr>
          <a:xfrm>
            <a:off x="571500" y="2868215"/>
            <a:ext cx="2541240" cy="975121"/>
          </a:xfrm>
          <a:prstGeom prst="rect">
            <a:avLst/>
          </a:prstGeom>
          <a:noFill/>
        </p:spPr>
        <p:txBody>
          <a:bodyPr wrap="square" lIns="0" rIns="0" tIns="0" bIns="0" anchor="t">
            <a:spAutoFit/>
          </a:bodyPr>
          <a:lstStyle/>
          <a:p>
            <a:pPr algn="ctr">
              <a:lnSpc>
                <a:spcPts val="1920"/>
              </a:lnSpc>
            </a:pPr>
            <a:r>
              <a:rPr b="0" sz="1200" i="0" u="none">
                <a:solidFill>
                  <a:srgbClr val="C9D1D9"/>
                </a:solidFill>
                <a:latin typeface="Inter"/>
              </a:rPr>
              <a:t>User describes the application. The AI precisely analyzes infrastructure and database requirements.</a:t>
            </a:r>
          </a:p>
        </p:txBody>
      </p:sp>
      <p:sp>
        <p:nvSpPr>
          <p:cNvPr id="6" name="TextBox 5"/>
          <p:cNvSpPr txBox="1"/>
          <p:nvPr/>
        </p:nvSpPr>
        <p:spPr>
          <a:xfrm>
            <a:off x="3343888" y="4605337"/>
            <a:ext cx="2668302" cy="266700"/>
          </a:xfrm>
          <a:prstGeom prst="rect">
            <a:avLst/>
          </a:prstGeom>
          <a:noFill/>
        </p:spPr>
        <p:txBody>
          <a:bodyPr wrap="square" lIns="0" rIns="0" tIns="0" bIns="0" anchor="t">
            <a:spAutoFit/>
          </a:bodyPr>
          <a:lstStyle/>
          <a:p>
            <a:pPr algn="ctr"/>
            <a:r>
              <a:rPr b="0" sz="1650" i="0" u="none">
                <a:solidFill>
                  <a:srgbClr val="58A6FF"/>
                </a:solidFill>
                <a:latin typeface="Outfit SemiBold"/>
              </a:rPr>
              <a:t>2. AI Recommendation</a:t>
            </a:r>
          </a:p>
        </p:txBody>
      </p:sp>
      <p:sp>
        <p:nvSpPr>
          <p:cNvPr id="7" name="TextBox 6"/>
          <p:cNvSpPr txBox="1"/>
          <p:nvPr/>
        </p:nvSpPr>
        <p:spPr>
          <a:xfrm>
            <a:off x="3407419" y="4967287"/>
            <a:ext cx="2541240" cy="975121"/>
          </a:xfrm>
          <a:prstGeom prst="rect">
            <a:avLst/>
          </a:prstGeom>
          <a:noFill/>
        </p:spPr>
        <p:txBody>
          <a:bodyPr wrap="square" lIns="0" rIns="0" tIns="0" bIns="0" anchor="t">
            <a:spAutoFit/>
          </a:bodyPr>
          <a:lstStyle/>
          <a:p>
            <a:pPr algn="ctr">
              <a:lnSpc>
                <a:spcPts val="1920"/>
              </a:lnSpc>
            </a:pPr>
            <a:r>
              <a:rPr b="0" sz="1200" i="0" u="none">
                <a:solidFill>
                  <a:srgbClr val="C9D1D9"/>
                </a:solidFill>
                <a:latin typeface="Inter"/>
              </a:rPr>
              <a:t>AI presents an optimized architecture along with comprehensive Cost and Security analyses and explanations.</a:t>
            </a:r>
          </a:p>
        </p:txBody>
      </p:sp>
      <p:sp>
        <p:nvSpPr>
          <p:cNvPr id="8" name="TextBox 7"/>
          <p:cNvSpPr txBox="1"/>
          <p:nvPr/>
        </p:nvSpPr>
        <p:spPr>
          <a:xfrm>
            <a:off x="6179808" y="2750046"/>
            <a:ext cx="2668302" cy="266700"/>
          </a:xfrm>
          <a:prstGeom prst="rect">
            <a:avLst/>
          </a:prstGeom>
          <a:noFill/>
        </p:spPr>
        <p:txBody>
          <a:bodyPr wrap="square" lIns="0" rIns="0" tIns="0" bIns="0" anchor="t">
            <a:spAutoFit/>
          </a:bodyPr>
          <a:lstStyle/>
          <a:p>
            <a:pPr algn="ctr"/>
            <a:r>
              <a:rPr b="0" sz="1650" i="0" u="none">
                <a:solidFill>
                  <a:srgbClr val="58A6FF"/>
                </a:solidFill>
                <a:latin typeface="Outfit SemiBold"/>
              </a:rPr>
              <a:t>3. Interactive Refinement</a:t>
            </a:r>
          </a:p>
        </p:txBody>
      </p:sp>
      <p:sp>
        <p:nvSpPr>
          <p:cNvPr id="9" name="TextBox 8"/>
          <p:cNvSpPr txBox="1"/>
          <p:nvPr/>
        </p:nvSpPr>
        <p:spPr>
          <a:xfrm>
            <a:off x="6243339" y="3111996"/>
            <a:ext cx="2541240" cy="731341"/>
          </a:xfrm>
          <a:prstGeom prst="rect">
            <a:avLst/>
          </a:prstGeom>
          <a:noFill/>
        </p:spPr>
        <p:txBody>
          <a:bodyPr wrap="square" lIns="0" rIns="0" tIns="0" bIns="0" anchor="t">
            <a:spAutoFit/>
          </a:bodyPr>
          <a:lstStyle/>
          <a:p>
            <a:pPr algn="ctr">
              <a:lnSpc>
                <a:spcPts val="1920"/>
              </a:lnSpc>
            </a:pPr>
            <a:r>
              <a:rPr b="0" sz="1200" i="0" u="none">
                <a:solidFill>
                  <a:srgbClr val="C9D1D9"/>
                </a:solidFill>
                <a:latin typeface="Inter"/>
              </a:rPr>
              <a:t>User modifies the architecture dynamically through chat (e.g., reduce costs, scale services).</a:t>
            </a:r>
          </a:p>
        </p:txBody>
      </p:sp>
      <p:sp>
        <p:nvSpPr>
          <p:cNvPr id="10" name="TextBox 9"/>
          <p:cNvSpPr txBox="1"/>
          <p:nvPr/>
        </p:nvSpPr>
        <p:spPr>
          <a:xfrm>
            <a:off x="9015728" y="4605337"/>
            <a:ext cx="2668302" cy="266700"/>
          </a:xfrm>
          <a:prstGeom prst="rect">
            <a:avLst/>
          </a:prstGeom>
          <a:noFill/>
        </p:spPr>
        <p:txBody>
          <a:bodyPr wrap="square" lIns="0" rIns="0" tIns="0" bIns="0" anchor="t">
            <a:spAutoFit/>
          </a:bodyPr>
          <a:lstStyle/>
          <a:p>
            <a:pPr algn="ctr"/>
            <a:r>
              <a:rPr b="0" sz="1650" i="0" u="none">
                <a:solidFill>
                  <a:srgbClr val="58A6FF"/>
                </a:solidFill>
                <a:latin typeface="Outfit SemiBold"/>
              </a:rPr>
              <a:t>4. Deployment &amp; Ops</a:t>
            </a:r>
          </a:p>
        </p:txBody>
      </p:sp>
      <p:sp>
        <p:nvSpPr>
          <p:cNvPr id="11" name="TextBox 10"/>
          <p:cNvSpPr txBox="1"/>
          <p:nvPr/>
        </p:nvSpPr>
        <p:spPr>
          <a:xfrm>
            <a:off x="9079259" y="4967287"/>
            <a:ext cx="2541240" cy="975121"/>
          </a:xfrm>
          <a:prstGeom prst="rect">
            <a:avLst/>
          </a:prstGeom>
          <a:noFill/>
        </p:spPr>
        <p:txBody>
          <a:bodyPr wrap="square" lIns="0" rIns="0" tIns="0" bIns="0" anchor="t">
            <a:spAutoFit/>
          </a:bodyPr>
          <a:lstStyle/>
          <a:p>
            <a:pPr algn="ctr">
              <a:lnSpc>
                <a:spcPts val="1920"/>
              </a:lnSpc>
            </a:pPr>
            <a:r>
              <a:rPr b="0" sz="1200" i="0" u="none">
                <a:solidFill>
                  <a:srgbClr val="C9D1D9"/>
                </a:solidFill>
                <a:latin typeface="Inter"/>
              </a:rPr>
              <a:t>Automatic IaC generation, cloud deployment, and continuous monitoring via the AI Infrastructure Doctor.</a:t>
            </a:r>
          </a:p>
        </p:txBody>
      </p:sp>
      <p:sp>
        <p:nvSpPr>
          <p:cNvPr id="12" name="TextBox 11"/>
          <p:cNvSpPr txBox="1"/>
          <p:nvPr/>
        </p:nvSpPr>
        <p:spPr>
          <a:xfrm>
            <a:off x="571500" y="571500"/>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05. </a:t>
            </a:r>
            <a:r>
              <a:rPr b="1" sz="3600" i="0" u="none">
                <a:solidFill>
                  <a:srgbClr val="58A6FF"/>
                </a:solidFill>
                <a:latin typeface="Outfit"/>
              </a:rPr>
              <a:t>Proposed Solution (Methodology)</a:t>
            </a:r>
          </a:p>
        </p:txBody>
      </p:sp>
      <p:sp>
        <p:nvSpPr>
          <p:cNvPr id="13" name="Rectangle 12"/>
          <p:cNvSpPr/>
          <p:nvPr/>
        </p:nvSpPr>
        <p:spPr>
          <a:xfrm>
            <a:off x="571500" y="1285875"/>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27745" y="4110037"/>
            <a:ext cx="228600" cy="228600"/>
          </a:xfrm>
          <a:prstGeom prst="roundRect">
            <a:avLst>
              <a:gd name="adj" fmla="val 50000"/>
            </a:avLst>
          </a:prstGeom>
          <a:solidFill>
            <a:srgbClr val="0D1117"/>
          </a:solidFill>
          <a:ln w="381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63665" y="4110037"/>
            <a:ext cx="228600" cy="228600"/>
          </a:xfrm>
          <a:prstGeom prst="roundRect">
            <a:avLst>
              <a:gd name="adj" fmla="val 50000"/>
            </a:avLst>
          </a:prstGeom>
          <a:solidFill>
            <a:srgbClr val="0D1117"/>
          </a:solidFill>
          <a:ln w="381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99585" y="4110037"/>
            <a:ext cx="228600" cy="228600"/>
          </a:xfrm>
          <a:prstGeom prst="roundRect">
            <a:avLst>
              <a:gd name="adj" fmla="val 50000"/>
            </a:avLst>
          </a:prstGeom>
          <a:solidFill>
            <a:srgbClr val="0D1117"/>
          </a:solidFill>
          <a:ln w="381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235505" y="4110037"/>
            <a:ext cx="228600" cy="228600"/>
          </a:xfrm>
          <a:prstGeom prst="roundRect">
            <a:avLst>
              <a:gd name="adj" fmla="val 50000"/>
            </a:avLst>
          </a:prstGeom>
          <a:solidFill>
            <a:srgbClr val="0D1117"/>
          </a:solidFill>
          <a:ln w="3810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00262"/>
            <a:ext cx="3429000" cy="3771751"/>
          </a:xfrm>
          <a:prstGeom prst="rect">
            <a:avLst/>
          </a:prstGeom>
        </p:spPr>
      </p:pic>
      <p:pic>
        <p:nvPicPr>
          <p:cNvPr id="4" name="Picture 3" descr="image.png"/>
          <p:cNvPicPr>
            <a:picLocks noChangeAspect="1"/>
          </p:cNvPicPr>
          <p:nvPr/>
        </p:nvPicPr>
        <p:blipFill>
          <a:blip r:embed="rId4"/>
          <a:stretch>
            <a:fillRect/>
          </a:stretch>
        </p:blipFill>
        <p:spPr>
          <a:xfrm>
            <a:off x="4381500" y="2100262"/>
            <a:ext cx="3429000" cy="3771751"/>
          </a:xfrm>
          <a:prstGeom prst="rect">
            <a:avLst/>
          </a:prstGeom>
        </p:spPr>
      </p:pic>
      <p:pic>
        <p:nvPicPr>
          <p:cNvPr id="5" name="Picture 4" descr="image.png"/>
          <p:cNvPicPr>
            <a:picLocks noChangeAspect="1"/>
          </p:cNvPicPr>
          <p:nvPr/>
        </p:nvPicPr>
        <p:blipFill>
          <a:blip r:embed="rId5"/>
          <a:stretch>
            <a:fillRect/>
          </a:stretch>
        </p:blipFill>
        <p:spPr>
          <a:xfrm>
            <a:off x="8191500" y="2100262"/>
            <a:ext cx="3429000" cy="3771751"/>
          </a:xfrm>
          <a:prstGeom prst="rect">
            <a:avLst/>
          </a:prstGeom>
        </p:spPr>
      </p:pic>
      <p:pic>
        <p:nvPicPr>
          <p:cNvPr id="6" name="Picture 5" descr="image.png"/>
          <p:cNvPicPr>
            <a:picLocks noChangeAspect="1"/>
          </p:cNvPicPr>
          <p:nvPr/>
        </p:nvPicPr>
        <p:blipFill>
          <a:blip r:embed="rId6"/>
          <a:stretch>
            <a:fillRect/>
          </a:stretch>
        </p:blipFill>
        <p:spPr>
          <a:xfrm>
            <a:off x="866775" y="2490787"/>
            <a:ext cx="666750" cy="666750"/>
          </a:xfrm>
          <a:prstGeom prst="rect">
            <a:avLst/>
          </a:prstGeom>
        </p:spPr>
      </p:pic>
      <p:sp>
        <p:nvSpPr>
          <p:cNvPr id="7" name="TextBox 6"/>
          <p:cNvSpPr txBox="1"/>
          <p:nvPr/>
        </p:nvSpPr>
        <p:spPr>
          <a:xfrm>
            <a:off x="866775" y="3395662"/>
            <a:ext cx="2980372" cy="571500"/>
          </a:xfrm>
          <a:prstGeom prst="rect">
            <a:avLst/>
          </a:prstGeom>
          <a:noFill/>
        </p:spPr>
        <p:txBody>
          <a:bodyPr wrap="square" lIns="0" rIns="0" tIns="0" bIns="0" anchor="t">
            <a:spAutoFit/>
          </a:bodyPr>
          <a:lstStyle/>
          <a:p>
            <a:pPr algn="l"/>
            <a:r>
              <a:rPr b="0" sz="1800" i="0" u="none">
                <a:solidFill>
                  <a:srgbClr val="FFFFFF"/>
                </a:solidFill>
                <a:latin typeface="Outfit SemiBold"/>
              </a:rPr>
              <a:t>SDG 9: Industry &amp; Innovation</a:t>
            </a:r>
          </a:p>
        </p:txBody>
      </p:sp>
      <p:sp>
        <p:nvSpPr>
          <p:cNvPr id="8" name="TextBox 7"/>
          <p:cNvSpPr txBox="1"/>
          <p:nvPr/>
        </p:nvSpPr>
        <p:spPr>
          <a:xfrm>
            <a:off x="866775" y="4110037"/>
            <a:ext cx="2838450" cy="1371451"/>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Promotes inclusive and sustainable industrialization by democratizing access to resilient, automated, and intelligent cloud infrastructures.</a:t>
            </a:r>
          </a:p>
        </p:txBody>
      </p:sp>
      <p:pic>
        <p:nvPicPr>
          <p:cNvPr id="9" name="Picture 8" descr="image.png"/>
          <p:cNvPicPr>
            <a:picLocks noChangeAspect="1"/>
          </p:cNvPicPr>
          <p:nvPr/>
        </p:nvPicPr>
        <p:blipFill>
          <a:blip r:embed="rId7"/>
          <a:stretch>
            <a:fillRect/>
          </a:stretch>
        </p:blipFill>
        <p:spPr>
          <a:xfrm>
            <a:off x="4676775" y="2490787"/>
            <a:ext cx="666750" cy="666750"/>
          </a:xfrm>
          <a:prstGeom prst="rect">
            <a:avLst/>
          </a:prstGeom>
        </p:spPr>
      </p:pic>
      <p:sp>
        <p:nvSpPr>
          <p:cNvPr id="10" name="TextBox 9"/>
          <p:cNvSpPr txBox="1"/>
          <p:nvPr/>
        </p:nvSpPr>
        <p:spPr>
          <a:xfrm>
            <a:off x="4676775" y="3395662"/>
            <a:ext cx="2800350" cy="285750"/>
          </a:xfrm>
          <a:prstGeom prst="rect">
            <a:avLst/>
          </a:prstGeom>
          <a:noFill/>
        </p:spPr>
        <p:txBody>
          <a:bodyPr wrap="square" lIns="0" rIns="0" tIns="0" bIns="0" anchor="t">
            <a:spAutoFit/>
          </a:bodyPr>
          <a:lstStyle/>
          <a:p>
            <a:pPr algn="l"/>
            <a:r>
              <a:rPr b="0" sz="1800" i="0" u="none">
                <a:solidFill>
                  <a:srgbClr val="FFFFFF"/>
                </a:solidFill>
                <a:latin typeface="Outfit SemiBold"/>
              </a:rPr>
              <a:t>SDG 8: Economic Growth</a:t>
            </a:r>
          </a:p>
        </p:txBody>
      </p:sp>
      <p:sp>
        <p:nvSpPr>
          <p:cNvPr id="11" name="TextBox 10"/>
          <p:cNvSpPr txBox="1"/>
          <p:nvPr/>
        </p:nvSpPr>
        <p:spPr>
          <a:xfrm>
            <a:off x="4676775" y="3824287"/>
            <a:ext cx="2838450" cy="1371451"/>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Empowers startups and small businesses by drastically reducing IT overhead and infrastructure costs, fostering productive employment.</a:t>
            </a:r>
          </a:p>
        </p:txBody>
      </p:sp>
      <p:pic>
        <p:nvPicPr>
          <p:cNvPr id="12" name="Picture 11" descr="image.png"/>
          <p:cNvPicPr>
            <a:picLocks noChangeAspect="1"/>
          </p:cNvPicPr>
          <p:nvPr/>
        </p:nvPicPr>
        <p:blipFill>
          <a:blip r:embed="rId8"/>
          <a:stretch>
            <a:fillRect/>
          </a:stretch>
        </p:blipFill>
        <p:spPr>
          <a:xfrm>
            <a:off x="8486775" y="2490787"/>
            <a:ext cx="666750" cy="666750"/>
          </a:xfrm>
          <a:prstGeom prst="rect">
            <a:avLst/>
          </a:prstGeom>
        </p:spPr>
      </p:pic>
      <p:sp>
        <p:nvSpPr>
          <p:cNvPr id="13" name="TextBox 12"/>
          <p:cNvSpPr txBox="1"/>
          <p:nvPr/>
        </p:nvSpPr>
        <p:spPr>
          <a:xfrm>
            <a:off x="8486775" y="3395662"/>
            <a:ext cx="2820352" cy="285750"/>
          </a:xfrm>
          <a:prstGeom prst="rect">
            <a:avLst/>
          </a:prstGeom>
          <a:noFill/>
        </p:spPr>
        <p:txBody>
          <a:bodyPr wrap="square" lIns="0" rIns="0" tIns="0" bIns="0" anchor="t">
            <a:spAutoFit/>
          </a:bodyPr>
          <a:lstStyle/>
          <a:p>
            <a:pPr algn="l"/>
            <a:r>
              <a:rPr b="0" sz="1800" i="0" u="none">
                <a:solidFill>
                  <a:srgbClr val="FFFFFF"/>
                </a:solidFill>
                <a:latin typeface="Outfit SemiBold"/>
              </a:rPr>
              <a:t>SDG 4: Quality Education</a:t>
            </a:r>
          </a:p>
        </p:txBody>
      </p:sp>
      <p:sp>
        <p:nvSpPr>
          <p:cNvPr id="14" name="TextBox 13"/>
          <p:cNvSpPr txBox="1"/>
          <p:nvPr/>
        </p:nvSpPr>
        <p:spPr>
          <a:xfrm>
            <a:off x="8486775" y="3824287"/>
            <a:ext cx="2838450" cy="1097160"/>
          </a:xfrm>
          <a:prstGeom prst="rect">
            <a:avLst/>
          </a:prstGeom>
          <a:noFill/>
        </p:spPr>
        <p:txBody>
          <a:bodyPr wrap="square" lIns="0" rIns="0" tIns="0" bIns="0" anchor="t">
            <a:spAutoFit/>
          </a:bodyPr>
          <a:lstStyle/>
          <a:p>
            <a:pPr algn="l">
              <a:lnSpc>
                <a:spcPts val="2160"/>
              </a:lnSpc>
            </a:pPr>
            <a:r>
              <a:rPr b="0" sz="1350" i="0" u="none">
                <a:solidFill>
                  <a:srgbClr val="C9D1D9"/>
                </a:solidFill>
                <a:latin typeface="Inter"/>
              </a:rPr>
              <a:t>Significantly reduces the technical learning curve for students and junior developers through highly explainable AI architectures.</a:t>
            </a:r>
          </a:p>
        </p:txBody>
      </p:sp>
      <p:pic>
        <p:nvPicPr>
          <p:cNvPr id="15" name="Picture 14" descr="image.png"/>
          <p:cNvPicPr>
            <a:picLocks noChangeAspect="1"/>
          </p:cNvPicPr>
          <p:nvPr/>
        </p:nvPicPr>
        <p:blipFill>
          <a:blip r:embed="rId9"/>
          <a:stretch>
            <a:fillRect/>
          </a:stretch>
        </p:blipFill>
        <p:spPr>
          <a:xfrm>
            <a:off x="1028700" y="2671762"/>
            <a:ext cx="342900" cy="304800"/>
          </a:xfrm>
          <a:prstGeom prst="rect">
            <a:avLst/>
          </a:prstGeom>
        </p:spPr>
      </p:pic>
      <p:pic>
        <p:nvPicPr>
          <p:cNvPr id="16" name="Picture 15" descr="image.png"/>
          <p:cNvPicPr>
            <a:picLocks noChangeAspect="1"/>
          </p:cNvPicPr>
          <p:nvPr/>
        </p:nvPicPr>
        <p:blipFill>
          <a:blip r:embed="rId10"/>
          <a:stretch>
            <a:fillRect/>
          </a:stretch>
        </p:blipFill>
        <p:spPr>
          <a:xfrm>
            <a:off x="4857750" y="2671762"/>
            <a:ext cx="304800" cy="304800"/>
          </a:xfrm>
          <a:prstGeom prst="rect">
            <a:avLst/>
          </a:prstGeom>
        </p:spPr>
      </p:pic>
      <p:pic>
        <p:nvPicPr>
          <p:cNvPr id="17" name="Picture 16" descr="image.png"/>
          <p:cNvPicPr>
            <a:picLocks noChangeAspect="1"/>
          </p:cNvPicPr>
          <p:nvPr/>
        </p:nvPicPr>
        <p:blipFill>
          <a:blip r:embed="rId11"/>
          <a:stretch>
            <a:fillRect/>
          </a:stretch>
        </p:blipFill>
        <p:spPr>
          <a:xfrm>
            <a:off x="8648700" y="2671762"/>
            <a:ext cx="342900" cy="304800"/>
          </a:xfrm>
          <a:prstGeom prst="rect">
            <a:avLst/>
          </a:prstGeom>
        </p:spPr>
      </p:pic>
      <p:sp>
        <p:nvSpPr>
          <p:cNvPr id="18" name="TextBox 17"/>
          <p:cNvSpPr txBox="1"/>
          <p:nvPr/>
        </p:nvSpPr>
        <p:spPr>
          <a:xfrm>
            <a:off x="571500" y="571500"/>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06. </a:t>
            </a:r>
            <a:r>
              <a:rPr b="1" sz="3600" i="0" u="none">
                <a:solidFill>
                  <a:srgbClr val="58A6FF"/>
                </a:solidFill>
                <a:latin typeface="Outfit"/>
              </a:rPr>
              <a:t>Mapping with SDGs Goals</a:t>
            </a:r>
          </a:p>
        </p:txBody>
      </p:sp>
      <p:sp>
        <p:nvSpPr>
          <p:cNvPr id="19" name="Rectangle 18"/>
          <p:cNvSpPr/>
          <p:nvPr/>
        </p:nvSpPr>
        <p:spPr>
          <a:xfrm>
            <a:off x="571500" y="1285875"/>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857250" y="1202233"/>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19250" y="1440358"/>
            <a:ext cx="9429750" cy="10400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Clouderator Project Summary</a:t>
            </a:r>
            <a:r>
              <a:rPr b="0" sz="1500" i="0" u="none">
                <a:solidFill>
                  <a:srgbClr val="C9D1D9"/>
                </a:solidFill>
                <a:latin typeface="Inter"/>
              </a:rPr>
              <a:t> Core internal document defining the project vision, major modules, workflow, and long-term trajectory for the AI Infrastructure Operating System.</a:t>
            </a:r>
          </a:p>
        </p:txBody>
      </p:sp>
      <p:sp>
        <p:nvSpPr>
          <p:cNvPr id="5" name="Rounded Rectangle 4"/>
          <p:cNvSpPr/>
          <p:nvPr/>
        </p:nvSpPr>
        <p:spPr>
          <a:xfrm>
            <a:off x="857250" y="2956619"/>
            <a:ext cx="10477500" cy="1821060"/>
          </a:xfrm>
          <a:prstGeom prst="roundRect">
            <a:avLst>
              <a:gd name="adj" fmla="val 6276"/>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9250" y="3194744"/>
            <a:ext cx="9429750" cy="13448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Academic Literature</a:t>
            </a:r>
            <a:r>
              <a:rPr b="0" sz="1500" i="0" u="none">
                <a:solidFill>
                  <a:srgbClr val="C9D1D9"/>
                </a:solidFill>
                <a:latin typeface="Inter"/>
              </a:rPr>
              <a:t> Singh, V. K., Awasthi, P., Tripathi, L., Thakur, S., &amp; Singh, P. (2024, August). Mern Stack Web-Based Streaming and Broadcasting Application. In 2024 International Conference on Electrical Electronics and Computing Technologies (ICEECT) (Vol. 1, pp. 1-6). IEEE.</a:t>
            </a:r>
          </a:p>
        </p:txBody>
      </p:sp>
      <p:sp>
        <p:nvSpPr>
          <p:cNvPr id="7" name="Rounded Rectangle 6"/>
          <p:cNvSpPr/>
          <p:nvPr/>
        </p:nvSpPr>
        <p:spPr>
          <a:xfrm>
            <a:off x="857250" y="5015805"/>
            <a:ext cx="10477500" cy="1516260"/>
          </a:xfrm>
          <a:prstGeom prst="roundRect">
            <a:avLst>
              <a:gd name="adj" fmla="val 7538"/>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9250" y="5253930"/>
            <a:ext cx="9429750" cy="1040010"/>
          </a:xfrm>
          <a:prstGeom prst="rect">
            <a:avLst/>
          </a:prstGeom>
          <a:noFill/>
        </p:spPr>
        <p:txBody>
          <a:bodyPr wrap="square" lIns="0" rIns="0" tIns="0" bIns="0" anchor="t">
            <a:spAutoFit/>
          </a:bodyPr>
          <a:lstStyle/>
          <a:p>
            <a:pPr algn="l">
              <a:lnSpc>
                <a:spcPts val="2400"/>
              </a:lnSpc>
            </a:pPr>
            <a:r>
              <a:rPr b="1" sz="1500" i="0" u="none">
                <a:solidFill>
                  <a:srgbClr val="FFFFFF"/>
                </a:solidFill>
                <a:latin typeface="Inter"/>
              </a:rPr>
              <a:t>Industry Standards &amp; Guidelines</a:t>
            </a:r>
            <a:r>
              <a:rPr b="0" sz="1500" i="0" u="none">
                <a:solidFill>
                  <a:srgbClr val="C9D1D9"/>
                </a:solidFill>
                <a:latin typeface="Inter"/>
              </a:rPr>
              <a:t> Official documentation and best practice frameworks on cloud architecture, Infrastructure as Code (IaC) standards, and DevOps methodologies.</a:t>
            </a:r>
          </a:p>
        </p:txBody>
      </p:sp>
      <p:sp>
        <p:nvSpPr>
          <p:cNvPr id="9" name="Rectangle 8"/>
          <p:cNvSpPr/>
          <p:nvPr/>
        </p:nvSpPr>
        <p:spPr>
          <a:xfrm>
            <a:off x="857250" y="2708969"/>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7250" y="4768155"/>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7250" y="6522541"/>
            <a:ext cx="10477500" cy="9525"/>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1152525" y="1468933"/>
            <a:ext cx="200025" cy="247650"/>
          </a:xfrm>
          <a:prstGeom prst="rect">
            <a:avLst/>
          </a:prstGeom>
        </p:spPr>
      </p:pic>
      <p:pic>
        <p:nvPicPr>
          <p:cNvPr id="13" name="Picture 12" descr="image.png"/>
          <p:cNvPicPr>
            <a:picLocks noChangeAspect="1"/>
          </p:cNvPicPr>
          <p:nvPr/>
        </p:nvPicPr>
        <p:blipFill>
          <a:blip r:embed="rId4"/>
          <a:stretch>
            <a:fillRect/>
          </a:stretch>
        </p:blipFill>
        <p:spPr>
          <a:xfrm>
            <a:off x="1152525" y="3223319"/>
            <a:ext cx="228600" cy="247650"/>
          </a:xfrm>
          <a:prstGeom prst="rect">
            <a:avLst/>
          </a:prstGeom>
        </p:spPr>
      </p:pic>
      <p:pic>
        <p:nvPicPr>
          <p:cNvPr id="14" name="Picture 13" descr="image.png"/>
          <p:cNvPicPr>
            <a:picLocks noChangeAspect="1"/>
          </p:cNvPicPr>
          <p:nvPr/>
        </p:nvPicPr>
        <p:blipFill>
          <a:blip r:embed="rId5"/>
          <a:stretch>
            <a:fillRect/>
          </a:stretch>
        </p:blipFill>
        <p:spPr>
          <a:xfrm>
            <a:off x="1152525" y="5282505"/>
            <a:ext cx="285750" cy="247650"/>
          </a:xfrm>
          <a:prstGeom prst="rect">
            <a:avLst/>
          </a:prstGeom>
        </p:spPr>
      </p:pic>
      <p:sp>
        <p:nvSpPr>
          <p:cNvPr id="15" name="TextBox 14"/>
          <p:cNvSpPr txBox="1"/>
          <p:nvPr/>
        </p:nvSpPr>
        <p:spPr>
          <a:xfrm>
            <a:off x="571500" y="87808"/>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07. </a:t>
            </a:r>
            <a:r>
              <a:rPr b="1" sz="3600" i="0" u="none">
                <a:solidFill>
                  <a:srgbClr val="58A6FF"/>
                </a:solidFill>
                <a:latin typeface="Outfit"/>
              </a:rPr>
              <a:t>References</a:t>
            </a:r>
          </a:p>
        </p:txBody>
      </p:sp>
      <p:sp>
        <p:nvSpPr>
          <p:cNvPr id="16" name="Rectangle 15"/>
          <p:cNvSpPr/>
          <p:nvPr/>
        </p:nvSpPr>
        <p:spPr>
          <a:xfrm>
            <a:off x="571500" y="802183"/>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2442269"/>
            <a:ext cx="11601450" cy="1200150"/>
          </a:xfrm>
          <a:prstGeom prst="rect">
            <a:avLst/>
          </a:prstGeom>
          <a:noFill/>
        </p:spPr>
        <p:txBody>
          <a:bodyPr wrap="square" lIns="0" rIns="0" tIns="0" bIns="0" anchor="t">
            <a:spAutoFit/>
          </a:bodyPr>
          <a:lstStyle/>
          <a:p>
            <a:pPr algn="ctr"/>
            <a:r>
              <a:rPr b="1" sz="7500" i="0" u="none">
                <a:solidFill>
                  <a:srgbClr val="FFFFFF"/>
                </a:solidFill>
                <a:latin typeface="Outfit"/>
              </a:rPr>
              <a:t>Thank You!</a:t>
            </a:r>
          </a:p>
        </p:txBody>
      </p:sp>
      <p:sp>
        <p:nvSpPr>
          <p:cNvPr id="4" name="TextBox 3"/>
          <p:cNvSpPr txBox="1"/>
          <p:nvPr/>
        </p:nvSpPr>
        <p:spPr>
          <a:xfrm>
            <a:off x="571500" y="3928169"/>
            <a:ext cx="11049000" cy="487560"/>
          </a:xfrm>
          <a:prstGeom prst="rect">
            <a:avLst/>
          </a:prstGeom>
          <a:noFill/>
        </p:spPr>
        <p:txBody>
          <a:bodyPr wrap="square" lIns="0" rIns="0" tIns="0" bIns="0" anchor="t">
            <a:spAutoFit/>
          </a:bodyPr>
          <a:lstStyle/>
          <a:p>
            <a:pPr algn="ctr">
              <a:lnSpc>
                <a:spcPts val="3840"/>
              </a:lnSpc>
            </a:pPr>
            <a:r>
              <a:rPr b="0" sz="2400" i="0" u="none">
                <a:solidFill>
                  <a:srgbClr val="C9D1D9"/>
                </a:solidFill>
                <a:latin typeface="Inter"/>
              </a:rPr>
              <a:t>Are there any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747938"/>
            <a:ext cx="1924050" cy="609600"/>
          </a:xfrm>
          <a:prstGeom prst="rect">
            <a:avLst/>
          </a:prstGeom>
        </p:spPr>
      </p:pic>
      <p:sp>
        <p:nvSpPr>
          <p:cNvPr id="4" name="TextBox 3"/>
          <p:cNvSpPr txBox="1"/>
          <p:nvPr/>
        </p:nvSpPr>
        <p:spPr>
          <a:xfrm>
            <a:off x="1666875" y="3741390"/>
            <a:ext cx="4238625" cy="198090"/>
          </a:xfrm>
          <a:prstGeom prst="rect">
            <a:avLst/>
          </a:prstGeom>
          <a:noFill/>
        </p:spPr>
        <p:txBody>
          <a:bodyPr wrap="square" lIns="0" rIns="0" tIns="0" bIns="0" anchor="t">
            <a:spAutoFit/>
          </a:bodyPr>
          <a:lstStyle/>
          <a:p>
            <a:pPr algn="l">
              <a:lnSpc>
                <a:spcPts val="1560"/>
              </a:lnSpc>
            </a:pPr>
            <a:r>
              <a:rPr b="0" sz="975" i="0" u="none">
                <a:solidFill>
                  <a:srgbClr val="C9D1D9"/>
                </a:solidFill>
                <a:latin typeface="Inter"/>
              </a:rPr>
              <a:t>https://postperspective.com/wp-content/uploads/2026/07/felipe-01.jpg</a:t>
            </a:r>
          </a:p>
        </p:txBody>
      </p:sp>
      <p:sp>
        <p:nvSpPr>
          <p:cNvPr id="5" name="TextBox 4"/>
          <p:cNvSpPr txBox="1"/>
          <p:nvPr/>
        </p:nvSpPr>
        <p:spPr>
          <a:xfrm>
            <a:off x="1666875" y="3987105"/>
            <a:ext cx="4238625" cy="243780"/>
          </a:xfrm>
          <a:prstGeom prst="rect">
            <a:avLst/>
          </a:prstGeom>
          <a:noFill/>
        </p:spPr>
        <p:txBody>
          <a:bodyPr wrap="square" lIns="0" rIns="0" tIns="0" bIns="0" anchor="t">
            <a:spAutoFit/>
          </a:bodyPr>
          <a:lstStyle/>
          <a:p>
            <a:pPr algn="l">
              <a:lnSpc>
                <a:spcPts val="1920"/>
              </a:lnSpc>
            </a:pPr>
            <a:r>
              <a:rPr b="0" sz="1200" i="0" u="none">
                <a:solidFill>
                  <a:srgbClr val="C9D1D9"/>
                </a:solidFill>
                <a:latin typeface="Inter"/>
              </a:rPr>
              <a:t>Source: </a:t>
            </a:r>
            <a:r>
              <a:rPr b="0" sz="1200" i="0" u="none">
                <a:solidFill>
                  <a:srgbClr val="4F46E5"/>
                </a:solidFill>
                <a:latin typeface="Inter"/>
              </a:rPr>
              <a:t>postperspective.com</a:t>
            </a:r>
          </a:p>
        </p:txBody>
      </p:sp>
      <p:sp>
        <p:nvSpPr>
          <p:cNvPr id="6" name="TextBox 5"/>
          <p:cNvSpPr txBox="1"/>
          <p:nvPr/>
        </p:nvSpPr>
        <p:spPr>
          <a:xfrm>
            <a:off x="571500" y="571500"/>
            <a:ext cx="11601450" cy="590550"/>
          </a:xfrm>
          <a:prstGeom prst="rect">
            <a:avLst/>
          </a:prstGeom>
          <a:noFill/>
        </p:spPr>
        <p:txBody>
          <a:bodyPr wrap="square" lIns="0" rIns="0" tIns="0" bIns="0" anchor="t">
            <a:spAutoFit/>
          </a:bodyPr>
          <a:lstStyle/>
          <a:p>
            <a:pPr algn="l"/>
            <a:r>
              <a:rPr b="1" sz="3600" i="0" u="none">
                <a:solidFill>
                  <a:srgbClr val="FFFFFF"/>
                </a:solidFill>
                <a:latin typeface="Outfit"/>
              </a:rPr>
              <a:t>Image Sources</a:t>
            </a:r>
          </a:p>
        </p:txBody>
      </p:sp>
      <p:sp>
        <p:nvSpPr>
          <p:cNvPr id="7" name="Rectangle 6"/>
          <p:cNvSpPr/>
          <p:nvPr/>
        </p:nvSpPr>
        <p:spPr>
          <a:xfrm>
            <a:off x="571500" y="1285875"/>
            <a:ext cx="11049000" cy="1905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